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838" r:id="rId1"/>
  </p:sldMasterIdLst>
  <p:notesMasterIdLst>
    <p:notesMasterId r:id="rId19"/>
  </p:notesMasterIdLst>
  <p:sldIdLst>
    <p:sldId id="256" r:id="rId2"/>
    <p:sldId id="266" r:id="rId3"/>
    <p:sldId id="257" r:id="rId4"/>
    <p:sldId id="267" r:id="rId5"/>
    <p:sldId id="269" r:id="rId6"/>
    <p:sldId id="275" r:id="rId7"/>
    <p:sldId id="279" r:id="rId8"/>
    <p:sldId id="268" r:id="rId9"/>
    <p:sldId id="270" r:id="rId10"/>
    <p:sldId id="271" r:id="rId11"/>
    <p:sldId id="276" r:id="rId12"/>
    <p:sldId id="278" r:id="rId13"/>
    <p:sldId id="273" r:id="rId14"/>
    <p:sldId id="272" r:id="rId15"/>
    <p:sldId id="274" r:id="rId16"/>
    <p:sldId id="277" r:id="rId17"/>
    <p:sldId id="280" r:id="rId18"/>
  </p:sldIdLst>
  <p:sldSz cx="14630400" cy="8229600"/>
  <p:notesSz cx="8229600" cy="14630400"/>
  <p:embeddedFontLst>
    <p:embeddedFont>
      <p:font typeface="Corbel" panose="020B0503020204020204" pitchFamily="34" charset="0"/>
      <p:regular r:id="rId20"/>
      <p:bold r:id="rId21"/>
      <p:italic r:id="rId22"/>
      <p:boldItalic r:id="rId2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3" d="100"/>
          <a:sy n="53" d="100"/>
        </p:scale>
        <p:origin x="74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2092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5A266-A850-DE9E-81A6-C8251CCD7A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F0E53E-0AB1-1D74-64E2-8D84B383C5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0F3077E-5D9E-FF59-B190-174B799B3F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6FF3AF-E2CB-0F2C-AD56-6140196EA65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8429381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57AED-FE4E-8FC0-BBED-49D745366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388F4-B28E-3D87-2494-EB9F02E0414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BD7D87E-AEE7-4267-67C3-A6F945FD53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0C1A9F-8B72-002C-7743-4048A20FB0E3}"/>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570593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90425-7057-1B14-BDCC-2F33F614D4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F22BC1-3D26-155D-A731-1D7E4E11BFF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6968D78-766C-5D12-EF09-5E51463316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8E2356-CBA0-765C-EA09-909600B55EE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7319597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1A412-0B00-BA00-BE82-9C79D17FB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689319-1168-86A5-8672-B1910BDF4AC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4807C96-1447-9484-9A10-2C01B9A5EB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F0C95F-4AE9-589E-DFF1-72B34631BCA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988899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30E99-4C14-D208-3186-4FD2E5367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D282DE-A027-CA57-B8EE-9BB02F3F150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B1F7BC3-44EA-ACBD-A433-D12A382C89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5E4487-D868-8826-C04E-A0EFE7F9AE9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9408438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CE96A-24AD-622B-EF53-D1A9A61DE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EABEF-11A2-E230-A4E8-1E648BB5C34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23C327C-89D1-0633-29E2-D0D2BC598F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8B610C-ADBD-D2B4-ED50-774BDF028A2F}"/>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805955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EA0FD-539E-C68F-4805-561ECD744B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12B67E-4615-B5AB-6D9D-0DAD633E0E8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E944062-1BAA-3D8B-5111-1997134298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F490B2-915D-5B9F-ADBB-1840B01D9BFD}"/>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224321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5366A-F7F1-C39D-223D-53C5B7C644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D3A045-9EFE-BB9B-B9D2-994B2D00138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4EA3727-FF13-5086-4348-1EFC5936A0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840C13-DFA3-F5BE-44B0-2466D402A4C9}"/>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921350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51760" y="5356834"/>
            <a:ext cx="10972800" cy="1969788"/>
          </a:xfrm>
        </p:spPr>
        <p:txBody>
          <a:bodyPr wrap="none" anchor="t">
            <a:normAutofit/>
          </a:bodyPr>
          <a:lstStyle>
            <a:lvl1pPr algn="r">
              <a:defRPr sz="11520" b="0" spc="-36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651759" y="4433251"/>
            <a:ext cx="10972800" cy="904830"/>
          </a:xfrm>
        </p:spPr>
        <p:txBody>
          <a:bodyPr anchor="b">
            <a:normAutofit/>
          </a:bodyPr>
          <a:lstStyle>
            <a:lvl1pPr marL="0" indent="0" algn="r">
              <a:buNone/>
              <a:defRPr sz="384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ECD19FB2-3AAB-4D03-B13A-2960828C78E3}" type="datetimeFigureOut">
              <a:rPr lang="en-US" smtClean="0"/>
              <a:t>4/7/2026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91159563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916976-5D93-46E4-A98A-FAD63E4D0EA8}" type="datetimeFigureOut">
              <a:rPr lang="en-US" smtClean="0"/>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6870335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1025438" y="5356834"/>
            <a:ext cx="10972800" cy="1969788"/>
          </a:xfrm>
        </p:spPr>
        <p:txBody>
          <a:bodyPr wrap="none" anchor="t">
            <a:normAutofit/>
          </a:bodyPr>
          <a:lstStyle>
            <a:lvl1pPr algn="l">
              <a:defRPr sz="11520" b="0" spc="-36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1025438" y="4432409"/>
            <a:ext cx="10972800" cy="904830"/>
          </a:xfrm>
        </p:spPr>
        <p:txBody>
          <a:bodyPr anchor="b">
            <a:normAutofit/>
          </a:bodyPr>
          <a:lstStyle>
            <a:lvl1pPr marL="0" indent="0" algn="l">
              <a:buNone/>
              <a:defRPr sz="384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F39F4F5-F4D2-4D2A-AB60-88D37ADCB869}" type="datetimeFigureOut">
              <a:rPr lang="en-US" smtClean="0"/>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2803207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344000" y="2190750"/>
            <a:ext cx="6030259"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583808" y="2190750"/>
            <a:ext cx="6040752"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3BC6CE-6D1E-47E5-8859-F31AC5380EB2}" type="datetimeFigureOut">
              <a:rPr lang="en-US" smtClean="0"/>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4858242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159067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44000" y="2017396"/>
            <a:ext cx="6030259" cy="988694"/>
          </a:xfrm>
        </p:spPr>
        <p:txBody>
          <a:bodyPr anchor="b"/>
          <a:lstStyle>
            <a:lvl1pPr marL="0" indent="0">
              <a:buNone/>
              <a:defRPr sz="288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344000" y="3006090"/>
            <a:ext cx="6030259"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83808" y="2017396"/>
            <a:ext cx="6042658" cy="988694"/>
          </a:xfrm>
        </p:spPr>
        <p:txBody>
          <a:bodyPr vert="horz" lIns="91440" tIns="45720" rIns="91440" bIns="45720" rtlCol="0" anchor="b">
            <a:normAutofit/>
          </a:bodyPr>
          <a:lstStyle>
            <a:lvl1pPr>
              <a:buNone/>
              <a:defRPr lang="en-US" sz="288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7583808" y="3006090"/>
            <a:ext cx="6042658"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1CF1133-3259-4C45-BABA-5B62D9C6F78D}" type="datetimeFigureOut">
              <a:rPr lang="en-US" smtClean="0"/>
              <a:t>4/7/2026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71390750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6FB7AA-4A53-424F-AD41-70827B6504BA}" type="datetimeFigureOut">
              <a:rPr lang="en-US" smtClean="0"/>
              <a:t>4/7/2026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3605310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884882-FB12-4BC8-9960-9AD8104D7FAE}" type="datetimeFigureOut">
              <a:rPr lang="en-US" smtClean="0"/>
              <a:t>4/7/2026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3045662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219826" y="1184911"/>
            <a:ext cx="7406640" cy="5848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44001" y="2468880"/>
            <a:ext cx="4382430" cy="4573906"/>
          </a:xfrm>
        </p:spPr>
        <p:txBody>
          <a:bodyPr/>
          <a:lstStyle>
            <a:lvl1pPr marL="0" indent="0">
              <a:buNone/>
              <a:defRPr sz="192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F7D1BD23-6E54-4D9D-AD88-A2813C73CC25}" type="datetimeFigureOut">
              <a:rPr lang="en-US" smtClean="0"/>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3098485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19826" y="1184911"/>
            <a:ext cx="7406640" cy="5848350"/>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344001" y="2468880"/>
            <a:ext cx="4382430" cy="4573906"/>
          </a:xfrm>
        </p:spPr>
        <p:txBody>
          <a:bodyPr/>
          <a:lstStyle>
            <a:lvl1pPr marL="0" indent="0">
              <a:buNone/>
              <a:defRPr sz="192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471A834-4F3C-4AF9-9C74-05EC35A0F292}" type="datetimeFigureOut">
              <a:rPr lang="en-US" smtClean="0"/>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0844698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5240593"/>
            <a:ext cx="12618720" cy="983226"/>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07746" y="1184911"/>
            <a:ext cx="12618720" cy="4055682"/>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07746" y="6223819"/>
            <a:ext cx="12616814" cy="818966"/>
          </a:xfrm>
        </p:spPr>
        <p:txBody>
          <a:bodyPr/>
          <a:lstStyle>
            <a:lvl1pPr marL="0" indent="0">
              <a:buNone/>
              <a:defRPr sz="192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51CF1133-3259-4C45-BABA-5B62D9C6F78D}" type="datetimeFigureOut">
              <a:rPr lang="en-US" smtClean="0"/>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8452087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007746" y="438150"/>
            <a:ext cx="12618720" cy="4241213"/>
          </a:xfrm>
        </p:spPr>
        <p:txBody>
          <a:bodyPr anchor="ctr"/>
          <a:lstStyle>
            <a:lvl1pPr>
              <a:defRPr sz="3840"/>
            </a:lvl1pPr>
          </a:lstStyle>
          <a:p>
            <a:r>
              <a:rPr lang="en-US"/>
              <a:t>Click to edit Master title style</a:t>
            </a:r>
            <a:endParaRPr lang="en-US" dirty="0"/>
          </a:p>
        </p:txBody>
      </p:sp>
      <p:sp>
        <p:nvSpPr>
          <p:cNvPr id="4" name="Text Placeholder 3"/>
          <p:cNvSpPr>
            <a:spLocks noGrp="1"/>
          </p:cNvSpPr>
          <p:nvPr>
            <p:ph type="body" sz="half" idx="2"/>
          </p:nvPr>
        </p:nvSpPr>
        <p:spPr>
          <a:xfrm>
            <a:off x="1007746" y="5387279"/>
            <a:ext cx="12616814" cy="1802191"/>
          </a:xfrm>
        </p:spPr>
        <p:txBody>
          <a:bodyPr anchor="ct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51CF1133-3259-4C45-BABA-5B62D9C6F78D}" type="datetimeFigureOut">
              <a:rPr lang="en-US" smtClean="0"/>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40278880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5455" y="438150"/>
            <a:ext cx="11163302" cy="3591485"/>
          </a:xfrm>
        </p:spPr>
        <p:txBody>
          <a:bodyPr anchor="ctr"/>
          <a:lstStyle>
            <a:lvl1pPr>
              <a:defRPr sz="5280"/>
            </a:lvl1pPr>
          </a:lstStyle>
          <a:p>
            <a:r>
              <a:rPr lang="en-US"/>
              <a:t>Click to edit Master title style</a:t>
            </a:r>
            <a:endParaRPr lang="en-US" dirty="0"/>
          </a:p>
        </p:txBody>
      </p:sp>
      <p:sp>
        <p:nvSpPr>
          <p:cNvPr id="12" name="Text Placeholder 3"/>
          <p:cNvSpPr>
            <a:spLocks noGrp="1"/>
          </p:cNvSpPr>
          <p:nvPr>
            <p:ph type="body" sz="half" idx="13"/>
          </p:nvPr>
        </p:nvSpPr>
        <p:spPr>
          <a:xfrm>
            <a:off x="2064773" y="4038668"/>
            <a:ext cx="10502759" cy="658762"/>
          </a:xfrm>
        </p:spPr>
        <p:txBody>
          <a:bodyPr anchor="t">
            <a:normAutofit/>
          </a:bodyPr>
          <a:lstStyle>
            <a:lvl1pPr marL="0" indent="0">
              <a:buNone/>
              <a:defRPr sz="168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4" name="Text Placeholder 3"/>
          <p:cNvSpPr>
            <a:spLocks noGrp="1"/>
          </p:cNvSpPr>
          <p:nvPr>
            <p:ph type="body" sz="half" idx="2"/>
          </p:nvPr>
        </p:nvSpPr>
        <p:spPr>
          <a:xfrm>
            <a:off x="1005840" y="5402075"/>
            <a:ext cx="12614909" cy="1787395"/>
          </a:xfrm>
        </p:spPr>
        <p:txBody>
          <a:bodyPr anchor="ctr">
            <a:normAutofit/>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51CF1133-3259-4C45-BABA-5B62D9C6F78D}" type="datetimeFigureOut">
              <a:rPr lang="en-US" smtClean="0"/>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
        <p:nvSpPr>
          <p:cNvPr id="9" name="TextBox 8"/>
          <p:cNvSpPr txBox="1"/>
          <p:nvPr/>
        </p:nvSpPr>
        <p:spPr>
          <a:xfrm>
            <a:off x="1333253" y="944189"/>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9600" dirty="0">
                <a:solidFill>
                  <a:schemeClr val="tx1"/>
                </a:solidFill>
                <a:effectLst/>
              </a:rPr>
              <a:t>“</a:t>
            </a:r>
          </a:p>
        </p:txBody>
      </p:sp>
      <p:sp>
        <p:nvSpPr>
          <p:cNvPr id="10" name="TextBox 9"/>
          <p:cNvSpPr txBox="1"/>
          <p:nvPr/>
        </p:nvSpPr>
        <p:spPr>
          <a:xfrm>
            <a:off x="12525374" y="3291840"/>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tx1"/>
                </a:solidFill>
                <a:effectLst/>
              </a:rPr>
              <a:t>”</a:t>
            </a:r>
          </a:p>
        </p:txBody>
      </p:sp>
    </p:spTree>
    <p:extLst>
      <p:ext uri="{BB962C8B-B14F-4D97-AF65-F5344CB8AC3E}">
        <p14:creationId xmlns:p14="http://schemas.microsoft.com/office/powerpoint/2010/main" val="49783479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007746" y="2792361"/>
            <a:ext cx="12618720" cy="3014202"/>
          </a:xfrm>
        </p:spPr>
        <p:txBody>
          <a:bodyPr anchor="b">
            <a:normAutofit/>
          </a:bodyPr>
          <a:lstStyle>
            <a:lvl1pPr>
              <a:defRPr sz="6480"/>
            </a:lvl1pPr>
          </a:lstStyle>
          <a:p>
            <a:r>
              <a:rPr lang="en-US"/>
              <a:t>Click to edit Master title style</a:t>
            </a:r>
            <a:endParaRPr lang="en-US" dirty="0"/>
          </a:p>
        </p:txBody>
      </p:sp>
      <p:sp>
        <p:nvSpPr>
          <p:cNvPr id="4" name="Text Placeholder 3"/>
          <p:cNvSpPr>
            <a:spLocks noGrp="1"/>
          </p:cNvSpPr>
          <p:nvPr>
            <p:ph type="body" sz="half" idx="2"/>
          </p:nvPr>
        </p:nvSpPr>
        <p:spPr>
          <a:xfrm>
            <a:off x="1007746" y="5820697"/>
            <a:ext cx="12616814" cy="1368773"/>
          </a:xfrm>
        </p:spPr>
        <p:txBody>
          <a:bodyPr anchor="t"/>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51CF1133-3259-4C45-BABA-5B62D9C6F78D}" type="datetimeFigureOut">
              <a:rPr lang="en-US" smtClean="0"/>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03292279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005840" y="438150"/>
            <a:ext cx="12618720" cy="1590676"/>
          </a:xfrm>
        </p:spPr>
        <p:txBody>
          <a:bodyPr/>
          <a:lstStyle/>
          <a:p>
            <a:r>
              <a:rPr lang="en-US"/>
              <a:t>Click to edit Master title style</a:t>
            </a:r>
            <a:endParaRPr lang="en-US" dirty="0"/>
          </a:p>
        </p:txBody>
      </p:sp>
      <p:sp>
        <p:nvSpPr>
          <p:cNvPr id="7" name="Text Placeholder 2"/>
          <p:cNvSpPr>
            <a:spLocks noGrp="1"/>
          </p:cNvSpPr>
          <p:nvPr>
            <p:ph type="body" idx="1"/>
          </p:nvPr>
        </p:nvSpPr>
        <p:spPr>
          <a:xfrm>
            <a:off x="1604739" y="2263140"/>
            <a:ext cx="3536239" cy="691514"/>
          </a:xfrm>
        </p:spPr>
        <p:txBody>
          <a:bodyPr anchor="b">
            <a:noAutofit/>
          </a:bodyPr>
          <a:lstStyle>
            <a:lvl1pPr marL="0" indent="0">
              <a:buNone/>
              <a:defRPr sz="288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8" name="Text Placeholder 3"/>
          <p:cNvSpPr>
            <a:spLocks noGrp="1"/>
          </p:cNvSpPr>
          <p:nvPr>
            <p:ph type="body" sz="half" idx="15"/>
          </p:nvPr>
        </p:nvSpPr>
        <p:spPr>
          <a:xfrm>
            <a:off x="1628158" y="3086100"/>
            <a:ext cx="3512820" cy="4307206"/>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9" name="Text Placeholder 4"/>
          <p:cNvSpPr>
            <a:spLocks noGrp="1"/>
          </p:cNvSpPr>
          <p:nvPr>
            <p:ph type="body" sz="quarter" idx="3"/>
          </p:nvPr>
        </p:nvSpPr>
        <p:spPr>
          <a:xfrm>
            <a:off x="5505594" y="2263140"/>
            <a:ext cx="3523489" cy="691514"/>
          </a:xfrm>
        </p:spPr>
        <p:txBody>
          <a:bodyPr vert="horz" lIns="91440" tIns="45720" rIns="91440" bIns="45720" rtlCol="0" anchor="b">
            <a:noAutofit/>
          </a:bodyPr>
          <a:lstStyle>
            <a:lvl1pPr>
              <a:buNone/>
              <a:defRPr lang="en-US" sz="288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5492929" y="3086100"/>
            <a:ext cx="3536153" cy="4307206"/>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1" name="Text Placeholder 4"/>
          <p:cNvSpPr>
            <a:spLocks noGrp="1"/>
          </p:cNvSpPr>
          <p:nvPr>
            <p:ph type="body" sz="quarter" idx="13"/>
          </p:nvPr>
        </p:nvSpPr>
        <p:spPr>
          <a:xfrm>
            <a:off x="9394842" y="2263140"/>
            <a:ext cx="3518536" cy="691514"/>
          </a:xfrm>
        </p:spPr>
        <p:txBody>
          <a:bodyPr vert="horz" lIns="91440" tIns="45720" rIns="91440" bIns="45720" rtlCol="0" anchor="b">
            <a:noAutofit/>
          </a:bodyPr>
          <a:lstStyle>
            <a:lvl1pPr>
              <a:buNone/>
              <a:defRPr lang="en-US" sz="288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9394842" y="3086100"/>
            <a:ext cx="3518536" cy="4307206"/>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3" name="Date Placeholder 2"/>
          <p:cNvSpPr>
            <a:spLocks noGrp="1"/>
          </p:cNvSpPr>
          <p:nvPr>
            <p:ph type="dt" sz="half" idx="10"/>
          </p:nvPr>
        </p:nvSpPr>
        <p:spPr/>
        <p:txBody>
          <a:bodyPr/>
          <a:lstStyle/>
          <a:p>
            <a:fld id="{51CF1133-3259-4C45-BABA-5B62D9C6F78D}" type="datetimeFigureOut">
              <a:rPr lang="en-US" smtClean="0"/>
              <a:t>4/7/2026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96800873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005840" y="438150"/>
            <a:ext cx="12618720" cy="1590676"/>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598502" y="5157004"/>
            <a:ext cx="3528060" cy="691514"/>
          </a:xfrm>
        </p:spPr>
        <p:txBody>
          <a:bodyPr anchor="b">
            <a:noAutofit/>
          </a:bodyPr>
          <a:lstStyle>
            <a:lvl1pPr marL="0" indent="0">
              <a:buNone/>
              <a:defRPr sz="288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0" name="Picture Placeholder 2"/>
          <p:cNvSpPr>
            <a:spLocks noGrp="1" noChangeAspect="1"/>
          </p:cNvSpPr>
          <p:nvPr>
            <p:ph type="pic" idx="15"/>
          </p:nvPr>
        </p:nvSpPr>
        <p:spPr>
          <a:xfrm>
            <a:off x="1598502" y="2707625"/>
            <a:ext cx="3528060" cy="1828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1" name="Text Placeholder 3"/>
          <p:cNvSpPr>
            <a:spLocks noGrp="1"/>
          </p:cNvSpPr>
          <p:nvPr>
            <p:ph type="body" sz="half" idx="18"/>
          </p:nvPr>
        </p:nvSpPr>
        <p:spPr>
          <a:xfrm>
            <a:off x="1598502" y="5848519"/>
            <a:ext cx="3528060" cy="791027"/>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22" name="Text Placeholder 4"/>
          <p:cNvSpPr>
            <a:spLocks noGrp="1"/>
          </p:cNvSpPr>
          <p:nvPr>
            <p:ph type="body" sz="quarter" idx="3"/>
          </p:nvPr>
        </p:nvSpPr>
        <p:spPr>
          <a:xfrm>
            <a:off x="5482797" y="5157004"/>
            <a:ext cx="3516630" cy="691514"/>
          </a:xfrm>
        </p:spPr>
        <p:txBody>
          <a:bodyPr anchor="b">
            <a:noAutofit/>
          </a:bodyPr>
          <a:lstStyle>
            <a:lvl1pPr marL="0" indent="0">
              <a:buNone/>
              <a:defRPr sz="288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3" name="Picture Placeholder 2"/>
          <p:cNvSpPr>
            <a:spLocks noGrp="1" noChangeAspect="1"/>
          </p:cNvSpPr>
          <p:nvPr>
            <p:ph type="pic" idx="21"/>
          </p:nvPr>
        </p:nvSpPr>
        <p:spPr>
          <a:xfrm>
            <a:off x="5482796" y="2707625"/>
            <a:ext cx="3516630" cy="1828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4" name="Text Placeholder 3"/>
          <p:cNvSpPr>
            <a:spLocks noGrp="1"/>
          </p:cNvSpPr>
          <p:nvPr>
            <p:ph type="body" sz="half" idx="19"/>
          </p:nvPr>
        </p:nvSpPr>
        <p:spPr>
          <a:xfrm>
            <a:off x="5481173" y="5848517"/>
            <a:ext cx="3521287" cy="791027"/>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25" name="Text Placeholder 4"/>
          <p:cNvSpPr>
            <a:spLocks noGrp="1"/>
          </p:cNvSpPr>
          <p:nvPr>
            <p:ph type="body" sz="quarter" idx="13"/>
          </p:nvPr>
        </p:nvSpPr>
        <p:spPr>
          <a:xfrm>
            <a:off x="9365187" y="5157004"/>
            <a:ext cx="3518536" cy="691514"/>
          </a:xfrm>
        </p:spPr>
        <p:txBody>
          <a:bodyPr anchor="b">
            <a:noAutofit/>
          </a:bodyPr>
          <a:lstStyle>
            <a:lvl1pPr marL="0" indent="0">
              <a:buNone/>
              <a:defRPr sz="288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6" name="Picture Placeholder 2"/>
          <p:cNvSpPr>
            <a:spLocks noGrp="1" noChangeAspect="1"/>
          </p:cNvSpPr>
          <p:nvPr>
            <p:ph type="pic" idx="22"/>
          </p:nvPr>
        </p:nvSpPr>
        <p:spPr>
          <a:xfrm>
            <a:off x="9365186" y="2707625"/>
            <a:ext cx="3518536" cy="18288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7" name="Text Placeholder 3"/>
          <p:cNvSpPr>
            <a:spLocks noGrp="1"/>
          </p:cNvSpPr>
          <p:nvPr>
            <p:ph type="body" sz="half" idx="20"/>
          </p:nvPr>
        </p:nvSpPr>
        <p:spPr>
          <a:xfrm>
            <a:off x="9365037" y="5848515"/>
            <a:ext cx="3523196" cy="791027"/>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3" name="Date Placeholder 2"/>
          <p:cNvSpPr>
            <a:spLocks noGrp="1"/>
          </p:cNvSpPr>
          <p:nvPr>
            <p:ph type="dt" sz="half" idx="10"/>
          </p:nvPr>
        </p:nvSpPr>
        <p:spPr/>
        <p:txBody>
          <a:bodyPr/>
          <a:lstStyle/>
          <a:p>
            <a:fld id="{51CF1133-3259-4C45-BABA-5B62D9C6F78D}" type="datetimeFigureOut">
              <a:rPr lang="en-US" smtClean="0"/>
              <a:t>4/7/2026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0253480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ED02AE-B9A4-47BD-AF8E-97E16144138B}" type="datetimeFigureOut">
              <a:rPr lang="en-US" smtClean="0"/>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2059112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0" y="438150"/>
            <a:ext cx="3154680" cy="69742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0FD78B-DB02-4362-BCDC-98A55456977C}" type="datetimeFigureOut">
              <a:rPr lang="en-US" smtClean="0"/>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4563235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89200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9804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344000" y="2190750"/>
            <a:ext cx="1228056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51CF1133-3259-4C45-BABA-5B62D9C6F78D}" type="datetimeFigureOut">
              <a:rPr lang="en-US" smtClean="0"/>
              <a:t>4/7/2026</a:t>
            </a:fld>
            <a:endParaRPr lang="en-US" dirty="0"/>
          </a:p>
        </p:txBody>
      </p:sp>
      <p:sp>
        <p:nvSpPr>
          <p:cNvPr id="5" name="Footer Placeholder 4"/>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422194814"/>
      </p:ext>
    </p:extLst>
  </p:cSld>
  <p:clrMap bg1="dk1" tx1="lt1" bg2="dk2" tx2="lt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2" r:id="rId14"/>
    <p:sldLayoutId id="2147483853" r:id="rId15"/>
    <p:sldLayoutId id="2147483854" r:id="rId16"/>
    <p:sldLayoutId id="2147483855" r:id="rId17"/>
    <p:sldLayoutId id="2147483856" r:id="rId18"/>
    <p:sldLayoutId id="2147483857" r:id="rId19"/>
  </p:sldLayoutIdLst>
  <p:hf sldNum="0" hdr="0" ftr="0" dt="0"/>
  <p:txStyles>
    <p:titleStyle>
      <a:lvl1pPr algn="l" defTabSz="1097280" rtl="0" eaLnBrk="1" latinLnBrk="0" hangingPunct="1">
        <a:lnSpc>
          <a:spcPct val="90000"/>
        </a:lnSpc>
        <a:spcBef>
          <a:spcPct val="0"/>
        </a:spcBef>
        <a:buNone/>
        <a:defRPr sz="648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hyperlink" Target="https://arxiv.org/abs/1906.09774?utm_source=chatgpt.com" TargetMode="External"/><Relationship Id="rId2" Type="http://schemas.openxmlformats.org/officeDocument/2006/relationships/notesSlide" Target="../notesSlides/notesSlide4.xml"/><Relationship Id="rId1" Type="http://schemas.openxmlformats.org/officeDocument/2006/relationships/slideLayout" Target="../slideLayouts/slideLayout19.xml"/><Relationship Id="rId5" Type="http://schemas.openxmlformats.org/officeDocument/2006/relationships/hyperlink" Target="https://www.researchgate.net/publication/387669510_Hybrid_Rule-Based_and_Machine_Learning_Chatbots?utm_source=chatgpt.com" TargetMode="External"/><Relationship Id="rId4" Type="http://schemas.openxmlformats.org/officeDocument/2006/relationships/hyperlink" Target="https://arxiv.org/abs/2302.07926?utm_source=chatgpt.com"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mdpi.com/2673-2688/5/2/41?utm_source=chatgpt.com" TargetMode="External"/><Relationship Id="rId2" Type="http://schemas.openxmlformats.org/officeDocument/2006/relationships/hyperlink" Target="https://www.researchgate.net/publication/387669510_Hybrid_Rule-Based_and_Machine_Learning_Chatbots?utm_source=chatgpt.com" TargetMode="External"/><Relationship Id="rId1" Type="http://schemas.openxmlformats.org/officeDocument/2006/relationships/slideLayout" Target="../slideLayouts/slideLayout19.xml"/><Relationship Id="rId4" Type="http://schemas.openxmlformats.org/officeDocument/2006/relationships/hyperlink" Target="https://www.sciencedirect.com/science/article/pii/S2949719125000044?utm_source=chatgpt.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hyperlink" Target="https://www.researchgate.net/publication/387669510_Hybrid_RuleBased_and_Machine_Learning_Chatbots" TargetMode="External"/><Relationship Id="rId2" Type="http://schemas.openxmlformats.org/officeDocument/2006/relationships/notesSlide" Target="../notesSlides/notesSlide10.xml"/><Relationship Id="rId1" Type="http://schemas.openxmlformats.org/officeDocument/2006/relationships/slideLayout" Target="../slideLayouts/slideLayout19.xml"/><Relationship Id="rId4" Type="http://schemas.openxmlformats.org/officeDocument/2006/relationships/hyperlink" Target="https://www.sciencedirect.com/science/article/pii/S2949719125000044/pdff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920153" y="1795105"/>
            <a:ext cx="8264769" cy="3259143"/>
          </a:xfrm>
          <a:prstGeom prst="rect">
            <a:avLst/>
          </a:prstGeom>
          <a:noFill/>
          <a:ln/>
        </p:spPr>
        <p:txBody>
          <a:bodyPr wrap="square" lIns="0" tIns="0" rIns="0" bIns="0" rtlCol="0" anchor="t"/>
          <a:lstStyle/>
          <a:p>
            <a:pPr marL="0" indent="0">
              <a:lnSpc>
                <a:spcPts val="5550"/>
              </a:lnSpc>
              <a:buNone/>
            </a:pPr>
            <a:r>
              <a:rPr lang="en-US" sz="4800" b="1" dirty="0">
                <a:solidFill>
                  <a:srgbClr val="FFFFFF"/>
                </a:solidFill>
                <a:latin typeface="Times New Roman" panose="02020603050405020304" pitchFamily="18" charset="0"/>
                <a:ea typeface="Outfit Extra Bold" pitchFamily="34" charset="-122"/>
                <a:cs typeface="Times New Roman" panose="02020603050405020304" pitchFamily="18" charset="0"/>
              </a:rPr>
              <a:t>AI-Driven Chatbot for Intelligent Customer Service Automation</a:t>
            </a:r>
            <a:endParaRPr lang="en-US" sz="4800" dirty="0">
              <a:latin typeface="Times New Roman" panose="02020603050405020304" pitchFamily="18" charset="0"/>
              <a:cs typeface="Times New Roman" panose="02020603050405020304" pitchFamily="18" charset="0"/>
            </a:endParaRPr>
          </a:p>
        </p:txBody>
      </p:sp>
      <p:sp>
        <p:nvSpPr>
          <p:cNvPr id="4" name="Text 1"/>
          <p:cNvSpPr/>
          <p:nvPr/>
        </p:nvSpPr>
        <p:spPr>
          <a:xfrm>
            <a:off x="6280190" y="5158026"/>
            <a:ext cx="7556421" cy="1088708"/>
          </a:xfrm>
          <a:prstGeom prst="rect">
            <a:avLst/>
          </a:prstGeom>
          <a:noFill/>
          <a:ln/>
        </p:spPr>
        <p:txBody>
          <a:bodyPr wrap="square" lIns="0" tIns="0" rIns="0" bIns="0" rtlCol="0" anchor="t"/>
          <a:lstStyle/>
          <a:p>
            <a:pPr marL="0" indent="0" algn="ctr">
              <a:lnSpc>
                <a:spcPts val="2850"/>
              </a:lnSpc>
              <a:buNone/>
            </a:pPr>
            <a:endParaRPr lang="en-US" sz="1750" dirty="0"/>
          </a:p>
        </p:txBody>
      </p:sp>
      <p:sp>
        <p:nvSpPr>
          <p:cNvPr id="5" name="TextBox 4">
            <a:extLst>
              <a:ext uri="{FF2B5EF4-FFF2-40B4-BE49-F238E27FC236}">
                <a16:creationId xmlns:a16="http://schemas.microsoft.com/office/drawing/2014/main" id="{C84E0F1F-28E2-BC05-8423-E5D7C4913E76}"/>
              </a:ext>
            </a:extLst>
          </p:cNvPr>
          <p:cNvSpPr txBox="1"/>
          <p:nvPr/>
        </p:nvSpPr>
        <p:spPr>
          <a:xfrm>
            <a:off x="8862646" y="5322277"/>
            <a:ext cx="4161692" cy="1523494"/>
          </a:xfrm>
          <a:prstGeom prst="rect">
            <a:avLst/>
          </a:prstGeom>
          <a:noFill/>
        </p:spPr>
        <p:txBody>
          <a:bodyPr wrap="square" rtlCol="0">
            <a:spAutoFit/>
          </a:bodyPr>
          <a:lstStyle/>
          <a:p>
            <a:r>
              <a:rPr lang="en-IN" sz="3100" dirty="0">
                <a:latin typeface="Times New Roman" panose="02020603050405020304" pitchFamily="18" charset="0"/>
                <a:cs typeface="Times New Roman" panose="02020603050405020304" pitchFamily="18" charset="0"/>
              </a:rPr>
              <a:t>Guided by:</a:t>
            </a:r>
          </a:p>
          <a:p>
            <a:r>
              <a:rPr lang="en-IN" sz="3100" dirty="0">
                <a:latin typeface="Times New Roman" panose="02020603050405020304" pitchFamily="18" charset="0"/>
                <a:cs typeface="Times New Roman" panose="02020603050405020304" pitchFamily="18" charset="0"/>
              </a:rPr>
              <a:t>Dr. NAGARAJAN M.K</a:t>
            </a:r>
          </a:p>
          <a:p>
            <a:r>
              <a:rPr lang="en-IN" sz="3100" dirty="0">
                <a:latin typeface="Times New Roman" panose="02020603050405020304" pitchFamily="18" charset="0"/>
                <a:cs typeface="Times New Roman" panose="02020603050405020304" pitchFamily="18" charset="0"/>
              </a:rPr>
              <a:t>(ASP/CSE – KARE)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7FC2D6-DFFE-C836-5AC6-AA896A7BD052}"/>
              </a:ext>
            </a:extLst>
          </p:cNvPr>
          <p:cNvSpPr txBox="1"/>
          <p:nvPr/>
        </p:nvSpPr>
        <p:spPr>
          <a:xfrm>
            <a:off x="703384" y="596535"/>
            <a:ext cx="4185139" cy="830997"/>
          </a:xfrm>
          <a:prstGeom prst="rect">
            <a:avLst/>
          </a:prstGeom>
          <a:noFill/>
        </p:spPr>
        <p:txBody>
          <a:bodyPr wrap="square" rtlCol="0">
            <a:spAutoFit/>
          </a:bodyPr>
          <a:lstStyle/>
          <a:p>
            <a:r>
              <a:rPr lang="en-IN" sz="4800" u="sng" dirty="0">
                <a:latin typeface="Times New Roman" panose="02020603050405020304" pitchFamily="18" charset="0"/>
                <a:cs typeface="Times New Roman" panose="02020603050405020304" pitchFamily="18" charset="0"/>
              </a:rPr>
              <a:t>Team Details:</a:t>
            </a:r>
          </a:p>
        </p:txBody>
      </p:sp>
      <p:graphicFrame>
        <p:nvGraphicFramePr>
          <p:cNvPr id="3" name="Table 2">
            <a:extLst>
              <a:ext uri="{FF2B5EF4-FFF2-40B4-BE49-F238E27FC236}">
                <a16:creationId xmlns:a16="http://schemas.microsoft.com/office/drawing/2014/main" id="{A94BA505-8DC4-4004-EA5D-BE6EEBF1D2A9}"/>
              </a:ext>
            </a:extLst>
          </p:cNvPr>
          <p:cNvGraphicFramePr>
            <a:graphicFrameLocks noGrp="1"/>
          </p:cNvGraphicFramePr>
          <p:nvPr>
            <p:extLst>
              <p:ext uri="{D42A27DB-BD31-4B8C-83A1-F6EECF244321}">
                <p14:modId xmlns:p14="http://schemas.microsoft.com/office/powerpoint/2010/main" val="2115061714"/>
              </p:ext>
            </p:extLst>
          </p:nvPr>
        </p:nvGraphicFramePr>
        <p:xfrm>
          <a:off x="1758462" y="2011680"/>
          <a:ext cx="10761784" cy="4533547"/>
        </p:xfrm>
        <a:graphic>
          <a:graphicData uri="http://schemas.openxmlformats.org/drawingml/2006/table">
            <a:tbl>
              <a:tblPr firstRow="1" bandRow="1">
                <a:tableStyleId>{073A0DAA-6AF3-43AB-8588-CEC1D06C72B9}</a:tableStyleId>
              </a:tblPr>
              <a:tblGrid>
                <a:gridCol w="1629507">
                  <a:extLst>
                    <a:ext uri="{9D8B030D-6E8A-4147-A177-3AD203B41FA5}">
                      <a16:colId xmlns:a16="http://schemas.microsoft.com/office/drawing/2014/main" val="1980418188"/>
                    </a:ext>
                  </a:extLst>
                </a:gridCol>
                <a:gridCol w="5470797">
                  <a:extLst>
                    <a:ext uri="{9D8B030D-6E8A-4147-A177-3AD203B41FA5}">
                      <a16:colId xmlns:a16="http://schemas.microsoft.com/office/drawing/2014/main" val="1336730111"/>
                    </a:ext>
                  </a:extLst>
                </a:gridCol>
                <a:gridCol w="3661480">
                  <a:extLst>
                    <a:ext uri="{9D8B030D-6E8A-4147-A177-3AD203B41FA5}">
                      <a16:colId xmlns:a16="http://schemas.microsoft.com/office/drawing/2014/main" val="3824849927"/>
                    </a:ext>
                  </a:extLst>
                </a:gridCol>
              </a:tblGrid>
              <a:tr h="590843">
                <a:tc>
                  <a:txBody>
                    <a:bodyPr/>
                    <a:lstStyle/>
                    <a:p>
                      <a:r>
                        <a:rPr lang="en-IN" sz="3100" dirty="0">
                          <a:latin typeface="Times New Roman" panose="02020603050405020304" pitchFamily="18" charset="0"/>
                          <a:cs typeface="Times New Roman" panose="02020603050405020304" pitchFamily="18" charset="0"/>
                        </a:rPr>
                        <a:t>S.NO</a:t>
                      </a:r>
                    </a:p>
                  </a:txBody>
                  <a:tcPr/>
                </a:tc>
                <a:tc>
                  <a:txBody>
                    <a:bodyPr/>
                    <a:lstStyle/>
                    <a:p>
                      <a:r>
                        <a:rPr lang="en-IN" sz="3100" dirty="0">
                          <a:latin typeface="Times New Roman" panose="02020603050405020304" pitchFamily="18" charset="0"/>
                          <a:cs typeface="Times New Roman" panose="02020603050405020304" pitchFamily="18" charset="0"/>
                        </a:rPr>
                        <a:t>NAME</a:t>
                      </a:r>
                    </a:p>
                  </a:txBody>
                  <a:tcPr/>
                </a:tc>
                <a:tc>
                  <a:txBody>
                    <a:bodyPr/>
                    <a:lstStyle/>
                    <a:p>
                      <a:r>
                        <a:rPr lang="en-IN" sz="3100" dirty="0">
                          <a:latin typeface="Times New Roman" panose="02020603050405020304" pitchFamily="18" charset="0"/>
                          <a:cs typeface="Times New Roman" panose="02020603050405020304" pitchFamily="18" charset="0"/>
                        </a:rPr>
                        <a:t>REG.NO</a:t>
                      </a:r>
                    </a:p>
                  </a:txBody>
                  <a:tcPr/>
                </a:tc>
                <a:extLst>
                  <a:ext uri="{0D108BD9-81ED-4DB2-BD59-A6C34878D82A}">
                    <a16:rowId xmlns:a16="http://schemas.microsoft.com/office/drawing/2014/main" val="1183619630"/>
                  </a:ext>
                </a:extLst>
              </a:tr>
              <a:tr h="985676">
                <a:tc>
                  <a:txBody>
                    <a:bodyPr/>
                    <a:lstStyle/>
                    <a:p>
                      <a:r>
                        <a:rPr lang="en-IN" sz="3100" dirty="0">
                          <a:latin typeface="Times New Roman" panose="02020603050405020304" pitchFamily="18" charset="0"/>
                          <a:cs typeface="Times New Roman" panose="02020603050405020304" pitchFamily="18" charset="0"/>
                        </a:rPr>
                        <a:t>1.</a:t>
                      </a:r>
                    </a:p>
                  </a:txBody>
                  <a:tcPr/>
                </a:tc>
                <a:tc>
                  <a:txBody>
                    <a:bodyPr/>
                    <a:lstStyle/>
                    <a:p>
                      <a:r>
                        <a:rPr lang="en-IN" sz="3100" dirty="0">
                          <a:latin typeface="Times New Roman" panose="02020603050405020304" pitchFamily="18" charset="0"/>
                          <a:cs typeface="Times New Roman" panose="02020603050405020304" pitchFamily="18" charset="0"/>
                        </a:rPr>
                        <a:t>Md Tufail Raza</a:t>
                      </a:r>
                    </a:p>
                  </a:txBody>
                  <a:tcPr/>
                </a:tc>
                <a:tc>
                  <a:txBody>
                    <a:bodyPr/>
                    <a:lstStyle/>
                    <a:p>
                      <a:r>
                        <a:rPr lang="en-IN" sz="3100" dirty="0">
                          <a:latin typeface="Times New Roman" panose="02020603050405020304" pitchFamily="18" charset="0"/>
                          <a:cs typeface="Times New Roman" panose="02020603050405020304" pitchFamily="18" charset="0"/>
                        </a:rPr>
                        <a:t>99220040629</a:t>
                      </a:r>
                    </a:p>
                  </a:txBody>
                  <a:tcPr/>
                </a:tc>
                <a:extLst>
                  <a:ext uri="{0D108BD9-81ED-4DB2-BD59-A6C34878D82A}">
                    <a16:rowId xmlns:a16="http://schemas.microsoft.com/office/drawing/2014/main" val="2271002215"/>
                  </a:ext>
                </a:extLst>
              </a:tr>
              <a:tr h="985676">
                <a:tc>
                  <a:txBody>
                    <a:bodyPr/>
                    <a:lstStyle/>
                    <a:p>
                      <a:r>
                        <a:rPr lang="en-IN" sz="3100" dirty="0">
                          <a:latin typeface="Times New Roman" panose="02020603050405020304" pitchFamily="18" charset="0"/>
                          <a:cs typeface="Times New Roman" panose="02020603050405020304" pitchFamily="18" charset="0"/>
                        </a:rPr>
                        <a:t>2.</a:t>
                      </a:r>
                    </a:p>
                  </a:txBody>
                  <a:tcPr/>
                </a:tc>
                <a:tc>
                  <a: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IN" sz="3100" dirty="0">
                          <a:latin typeface="Times New Roman" panose="02020603050405020304" pitchFamily="18" charset="0"/>
                          <a:cs typeface="Times New Roman" panose="02020603050405020304" pitchFamily="18" charset="0"/>
                        </a:rPr>
                        <a:t>Ganesh Kumar Sardar</a:t>
                      </a:r>
                    </a:p>
                  </a:txBody>
                  <a:tcPr/>
                </a:tc>
                <a:tc>
                  <a:txBody>
                    <a:bodyPr/>
                    <a:lstStyle/>
                    <a:p>
                      <a:r>
                        <a:rPr lang="en-IN" sz="3100" dirty="0">
                          <a:latin typeface="Times New Roman" panose="02020603050405020304" pitchFamily="18" charset="0"/>
                          <a:cs typeface="Times New Roman" panose="02020603050405020304" pitchFamily="18" charset="0"/>
                        </a:rPr>
                        <a:t>99220040512</a:t>
                      </a:r>
                    </a:p>
                  </a:txBody>
                  <a:tcPr/>
                </a:tc>
                <a:extLst>
                  <a:ext uri="{0D108BD9-81ED-4DB2-BD59-A6C34878D82A}">
                    <a16:rowId xmlns:a16="http://schemas.microsoft.com/office/drawing/2014/main" val="3097073694"/>
                  </a:ext>
                </a:extLst>
              </a:tr>
              <a:tr h="985676">
                <a:tc>
                  <a:txBody>
                    <a:bodyPr/>
                    <a:lstStyle/>
                    <a:p>
                      <a:r>
                        <a:rPr lang="en-IN" sz="3100" dirty="0">
                          <a:latin typeface="Times New Roman" panose="02020603050405020304" pitchFamily="18" charset="0"/>
                          <a:cs typeface="Times New Roman" panose="02020603050405020304" pitchFamily="18" charset="0"/>
                        </a:rPr>
                        <a:t>3.</a:t>
                      </a:r>
                    </a:p>
                  </a:txBody>
                  <a:tcPr/>
                </a:tc>
                <a:tc>
                  <a:txBody>
                    <a:bodyPr/>
                    <a:lstStyle/>
                    <a:p>
                      <a:r>
                        <a:rPr lang="en-IN" sz="3100" dirty="0">
                          <a:latin typeface="Times New Roman" panose="02020603050405020304" pitchFamily="18" charset="0"/>
                          <a:cs typeface="Times New Roman" panose="02020603050405020304" pitchFamily="18" charset="0"/>
                        </a:rPr>
                        <a:t>Uttam Kumar</a:t>
                      </a:r>
                    </a:p>
                  </a:txBody>
                  <a:tcPr/>
                </a:tc>
                <a:tc>
                  <a:txBody>
                    <a:bodyPr/>
                    <a:lstStyle/>
                    <a:p>
                      <a:r>
                        <a:rPr lang="en-IN" sz="3100" dirty="0">
                          <a:latin typeface="Times New Roman" panose="02020603050405020304" pitchFamily="18" charset="0"/>
                          <a:cs typeface="Times New Roman" panose="02020603050405020304" pitchFamily="18" charset="0"/>
                        </a:rPr>
                        <a:t>99220041404</a:t>
                      </a:r>
                    </a:p>
                  </a:txBody>
                  <a:tcPr/>
                </a:tc>
                <a:extLst>
                  <a:ext uri="{0D108BD9-81ED-4DB2-BD59-A6C34878D82A}">
                    <a16:rowId xmlns:a16="http://schemas.microsoft.com/office/drawing/2014/main" val="2640343609"/>
                  </a:ext>
                </a:extLst>
              </a:tr>
              <a:tr h="985676">
                <a:tc>
                  <a:txBody>
                    <a:bodyPr/>
                    <a:lstStyle/>
                    <a:p>
                      <a:r>
                        <a:rPr lang="en-IN" sz="3100" dirty="0">
                          <a:latin typeface="Times New Roman" panose="02020603050405020304" pitchFamily="18" charset="0"/>
                          <a:cs typeface="Times New Roman" panose="02020603050405020304" pitchFamily="18" charset="0"/>
                        </a:rPr>
                        <a:t>4.</a:t>
                      </a:r>
                    </a:p>
                  </a:txBody>
                  <a:tcPr/>
                </a:tc>
                <a:tc>
                  <a:txBody>
                    <a:bodyPr/>
                    <a:lstStyle/>
                    <a:p>
                      <a:r>
                        <a:rPr lang="en-IN" sz="3100" dirty="0">
                          <a:latin typeface="Times New Roman" panose="02020603050405020304" pitchFamily="18" charset="0"/>
                          <a:cs typeface="Times New Roman" panose="02020603050405020304" pitchFamily="18" charset="0"/>
                        </a:rPr>
                        <a:t>Rajesh Janapati</a:t>
                      </a:r>
                    </a:p>
                  </a:txBody>
                  <a:tcPr/>
                </a:tc>
                <a:tc>
                  <a:txBody>
                    <a:bodyPr/>
                    <a:lstStyle/>
                    <a:p>
                      <a:r>
                        <a:rPr lang="en-IN" sz="3100" dirty="0">
                          <a:latin typeface="Times New Roman" panose="02020603050405020304" pitchFamily="18" charset="0"/>
                          <a:cs typeface="Times New Roman" panose="02020603050405020304" pitchFamily="18" charset="0"/>
                        </a:rPr>
                        <a:t>99220040976</a:t>
                      </a:r>
                    </a:p>
                  </a:txBody>
                  <a:tcPr/>
                </a:tc>
                <a:extLst>
                  <a:ext uri="{0D108BD9-81ED-4DB2-BD59-A6C34878D82A}">
                    <a16:rowId xmlns:a16="http://schemas.microsoft.com/office/drawing/2014/main" val="3730957425"/>
                  </a:ext>
                </a:extLst>
              </a:tr>
            </a:tbl>
          </a:graphicData>
        </a:graphic>
      </p:graphicFrame>
      <p:sp>
        <p:nvSpPr>
          <p:cNvPr id="4" name="TextBox 3">
            <a:extLst>
              <a:ext uri="{FF2B5EF4-FFF2-40B4-BE49-F238E27FC236}">
                <a16:creationId xmlns:a16="http://schemas.microsoft.com/office/drawing/2014/main" id="{4B9BE17E-DF64-B927-9A9F-16958E7EB55D}"/>
              </a:ext>
            </a:extLst>
          </p:cNvPr>
          <p:cNvSpPr txBox="1"/>
          <p:nvPr/>
        </p:nvSpPr>
        <p:spPr>
          <a:xfrm>
            <a:off x="10709647" y="7009366"/>
            <a:ext cx="2777753" cy="707886"/>
          </a:xfrm>
          <a:prstGeom prst="rect">
            <a:avLst/>
          </a:prstGeom>
          <a:noFill/>
        </p:spPr>
        <p:txBody>
          <a:bodyPr wrap="square" rtlCol="0">
            <a:spAutoFit/>
          </a:bodyPr>
          <a:lstStyle/>
          <a:p>
            <a:r>
              <a:rPr lang="en-IN" sz="4000" u="sng" dirty="0">
                <a:latin typeface="Times New Roman" panose="02020603050405020304" pitchFamily="18" charset="0"/>
                <a:cs typeface="Times New Roman" panose="02020603050405020304" pitchFamily="18" charset="0"/>
              </a:rPr>
              <a:t>Team - 03</a:t>
            </a:r>
          </a:p>
        </p:txBody>
      </p:sp>
    </p:spTree>
    <p:extLst>
      <p:ext uri="{BB962C8B-B14F-4D97-AF65-F5344CB8AC3E}">
        <p14:creationId xmlns:p14="http://schemas.microsoft.com/office/powerpoint/2010/main" val="4258222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0C745DC2-715D-5BF5-8131-0FBC0B65EFAD}"/>
              </a:ext>
            </a:extLst>
          </p:cNvPr>
          <p:cNvSpPr txBox="1"/>
          <p:nvPr/>
        </p:nvSpPr>
        <p:spPr>
          <a:xfrm>
            <a:off x="1242646" y="405116"/>
            <a:ext cx="4267200" cy="830997"/>
          </a:xfrm>
          <a:prstGeom prst="rect">
            <a:avLst/>
          </a:prstGeom>
          <a:noFill/>
        </p:spPr>
        <p:txBody>
          <a:bodyPr wrap="square" rtlCol="0">
            <a:spAutoFit/>
          </a:bodyPr>
          <a:lstStyle/>
          <a:p>
            <a:r>
              <a:rPr lang="en-IN" sz="4800" b="1" u="sng" dirty="0">
                <a:latin typeface="Times New Roman" panose="02020603050405020304" pitchFamily="18" charset="0"/>
                <a:cs typeface="Times New Roman" panose="02020603050405020304" pitchFamily="18" charset="0"/>
              </a:rPr>
              <a:t>Introduction:</a:t>
            </a:r>
          </a:p>
        </p:txBody>
      </p:sp>
      <p:sp>
        <p:nvSpPr>
          <p:cNvPr id="19" name="TextBox 18">
            <a:extLst>
              <a:ext uri="{FF2B5EF4-FFF2-40B4-BE49-F238E27FC236}">
                <a16:creationId xmlns:a16="http://schemas.microsoft.com/office/drawing/2014/main" id="{0CAC4CF5-B94E-1A34-5BD5-EB7DDA80D140}"/>
              </a:ext>
            </a:extLst>
          </p:cNvPr>
          <p:cNvSpPr txBox="1"/>
          <p:nvPr/>
        </p:nvSpPr>
        <p:spPr>
          <a:xfrm>
            <a:off x="580292" y="1903984"/>
            <a:ext cx="12895385" cy="4893647"/>
          </a:xfrm>
          <a:prstGeom prst="rect">
            <a:avLst/>
          </a:prstGeom>
          <a:noFill/>
        </p:spPr>
        <p:txBody>
          <a:bodyPr wrap="square">
            <a:spAutoFit/>
          </a:bodyPr>
          <a:lstStyle/>
          <a:p>
            <a:pPr marL="285750" indent="-28575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In the modern digital era, customer service has become a key factor in business success.</a:t>
            </a:r>
          </a:p>
          <a:p>
            <a:pPr marL="285750" indent="-285750" algn="just">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Customers demand </a:t>
            </a:r>
            <a:r>
              <a:rPr lang="en-US" sz="2400" b="1" dirty="0">
                <a:latin typeface="Times New Roman" panose="02020603050405020304" pitchFamily="18" charset="0"/>
                <a:cs typeface="Times New Roman" panose="02020603050405020304" pitchFamily="18" charset="0"/>
              </a:rPr>
              <a:t>instant, personalized, and 24/7 support</a:t>
            </a:r>
            <a:r>
              <a:rPr lang="en-US" sz="2400" dirty="0">
                <a:latin typeface="Times New Roman" panose="02020603050405020304" pitchFamily="18" charset="0"/>
                <a:cs typeface="Times New Roman" panose="02020603050405020304" pitchFamily="18" charset="0"/>
              </a:rPr>
              <a:t>, which traditional methods struggle to provide efficiently.</a:t>
            </a:r>
          </a:p>
          <a:p>
            <a:pPr marL="285750" indent="-285750" algn="just">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Businesses face challenges with </a:t>
            </a:r>
            <a:r>
              <a:rPr lang="en-US" sz="2400" b="1" dirty="0">
                <a:latin typeface="Times New Roman" panose="02020603050405020304" pitchFamily="18" charset="0"/>
                <a:cs typeface="Times New Roman" panose="02020603050405020304" pitchFamily="18" charset="0"/>
              </a:rPr>
              <a:t>high operational costs, long wait times, and limited scalability</a:t>
            </a:r>
            <a:r>
              <a:rPr lang="en-US" sz="2400" dirty="0">
                <a:latin typeface="Times New Roman" panose="02020603050405020304" pitchFamily="18" charset="0"/>
                <a:cs typeface="Times New Roman" panose="02020603050405020304" pitchFamily="18" charset="0"/>
              </a:rPr>
              <a:t> when relying solely on human agents.</a:t>
            </a:r>
          </a:p>
          <a:p>
            <a:pPr marL="285750" indent="-285750" algn="just">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AI-driven chatbots</a:t>
            </a:r>
            <a:r>
              <a:rPr lang="en-US" sz="2400" dirty="0">
                <a:latin typeface="Times New Roman" panose="02020603050405020304" pitchFamily="18" charset="0"/>
                <a:cs typeface="Times New Roman" panose="02020603050405020304" pitchFamily="18" charset="0"/>
              </a:rPr>
              <a:t> have emerged as a powerful solution, leveraging </a:t>
            </a:r>
            <a:r>
              <a:rPr lang="en-US" sz="2400" b="1" dirty="0">
                <a:latin typeface="Times New Roman" panose="02020603050405020304" pitchFamily="18" charset="0"/>
                <a:cs typeface="Times New Roman" panose="02020603050405020304" pitchFamily="18" charset="0"/>
              </a:rPr>
              <a:t>Natural Language Processing (NLP), Machine Learning, and automation</a:t>
            </a:r>
            <a:r>
              <a:rPr lang="en-US" sz="2400" dirty="0">
                <a:latin typeface="Times New Roman" panose="02020603050405020304" pitchFamily="18" charset="0"/>
                <a:cs typeface="Times New Roman" panose="02020603050405020304" pitchFamily="18" charset="0"/>
              </a:rPr>
              <a:t> to enhance customer service.</a:t>
            </a:r>
          </a:p>
          <a:p>
            <a:pPr marL="285750" indent="-285750" algn="just">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These systems not only </a:t>
            </a:r>
            <a:r>
              <a:rPr lang="en-US" sz="2400" b="1" dirty="0">
                <a:latin typeface="Times New Roman" panose="02020603050405020304" pitchFamily="18" charset="0"/>
                <a:cs typeface="Times New Roman" panose="02020603050405020304" pitchFamily="18" charset="0"/>
              </a:rPr>
              <a:t>resolve repetitive queries automatically</a:t>
            </a:r>
            <a:r>
              <a:rPr lang="en-US" sz="2400" dirty="0">
                <a:latin typeface="Times New Roman" panose="02020603050405020304" pitchFamily="18" charset="0"/>
                <a:cs typeface="Times New Roman" panose="02020603050405020304" pitchFamily="18" charset="0"/>
              </a:rPr>
              <a:t>, but also </a:t>
            </a:r>
            <a:r>
              <a:rPr lang="en-US" sz="2400" b="1" dirty="0">
                <a:latin typeface="Times New Roman" panose="02020603050405020304" pitchFamily="18" charset="0"/>
                <a:cs typeface="Times New Roman" panose="02020603050405020304" pitchFamily="18" charset="0"/>
              </a:rPr>
              <a:t>improve customer satisfaction, reduce costs, and increase overall efficiency</a:t>
            </a:r>
            <a:r>
              <a:rPr lang="en-US" sz="24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2CE4C-88E5-DDB2-6562-CC0EAB21A4E7}"/>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CD767D9B-B623-830E-843E-7E4697486058}"/>
              </a:ext>
            </a:extLst>
          </p:cNvPr>
          <p:cNvSpPr txBox="1"/>
          <p:nvPr/>
        </p:nvSpPr>
        <p:spPr>
          <a:xfrm>
            <a:off x="1242645" y="405116"/>
            <a:ext cx="5978769" cy="830997"/>
          </a:xfrm>
          <a:prstGeom prst="rect">
            <a:avLst/>
          </a:prstGeom>
          <a:noFill/>
        </p:spPr>
        <p:txBody>
          <a:bodyPr wrap="square" rtlCol="0">
            <a:spAutoFit/>
          </a:bodyPr>
          <a:lstStyle/>
          <a:p>
            <a:r>
              <a:rPr lang="en-IN" sz="4800" b="1" u="sng" dirty="0">
                <a:latin typeface="Times New Roman" panose="02020603050405020304" pitchFamily="18" charset="0"/>
                <a:cs typeface="Times New Roman" panose="02020603050405020304" pitchFamily="18" charset="0"/>
              </a:rPr>
              <a:t>Problem Statement:</a:t>
            </a:r>
          </a:p>
        </p:txBody>
      </p:sp>
      <p:sp>
        <p:nvSpPr>
          <p:cNvPr id="19" name="TextBox 18">
            <a:extLst>
              <a:ext uri="{FF2B5EF4-FFF2-40B4-BE49-F238E27FC236}">
                <a16:creationId xmlns:a16="http://schemas.microsoft.com/office/drawing/2014/main" id="{39FA474A-6400-A198-CA56-581F6E00A211}"/>
              </a:ext>
            </a:extLst>
          </p:cNvPr>
          <p:cNvSpPr txBox="1"/>
          <p:nvPr/>
        </p:nvSpPr>
        <p:spPr>
          <a:xfrm>
            <a:off x="614844" y="1884438"/>
            <a:ext cx="12895385" cy="4832092"/>
          </a:xfrm>
          <a:prstGeom prst="rect">
            <a:avLst/>
          </a:prstGeom>
          <a:noFill/>
        </p:spPr>
        <p:txBody>
          <a:bodyPr wrap="square">
            <a:spAutoFit/>
          </a:bodyPr>
          <a:lstStyle/>
          <a:p>
            <a:pPr marL="342900" indent="-3429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Traditional customer support systems often face significant challenges such as long response times, high operational costs, and limited scalability, which directly affect customer satisfaction and business efficiency. Rule-based chatbots, although introduced as a solution, are restricted by predefined scripts and lack the flexibility to handle dynamic or complex queries, resulting in incomplete or unsatisfactory interactions. </a:t>
            </a:r>
          </a:p>
          <a:p>
            <a:pPr algn="just"/>
            <a:endParaRPr lang="en-US" sz="2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These limitations highlight the growing need for an intelligent, adaptive, and cost-effective solution that can efficiently manage high volumes of queries, deliver personalized and accurate responses in real time, and enhance the overall customer experience while reducing the dependency on human agents.</a:t>
            </a:r>
          </a:p>
        </p:txBody>
      </p:sp>
    </p:spTree>
    <p:extLst>
      <p:ext uri="{BB962C8B-B14F-4D97-AF65-F5344CB8AC3E}">
        <p14:creationId xmlns:p14="http://schemas.microsoft.com/office/powerpoint/2010/main" val="238819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D3433-0C06-36AB-78C0-8D70C30E2D73}"/>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B18B780D-6019-B3DD-F79D-4AC0A740A6D6}"/>
              </a:ext>
            </a:extLst>
          </p:cNvPr>
          <p:cNvSpPr txBox="1"/>
          <p:nvPr/>
        </p:nvSpPr>
        <p:spPr>
          <a:xfrm>
            <a:off x="1242645" y="112039"/>
            <a:ext cx="5978769" cy="830997"/>
          </a:xfrm>
          <a:prstGeom prst="rect">
            <a:avLst/>
          </a:prstGeom>
          <a:noFill/>
        </p:spPr>
        <p:txBody>
          <a:bodyPr wrap="square" rtlCol="0">
            <a:spAutoFit/>
          </a:bodyPr>
          <a:lstStyle/>
          <a:p>
            <a:r>
              <a:rPr lang="en-IN" sz="4800" b="1" u="sng" dirty="0">
                <a:latin typeface="Times New Roman" panose="02020603050405020304" pitchFamily="18" charset="0"/>
                <a:cs typeface="Times New Roman" panose="02020603050405020304" pitchFamily="18" charset="0"/>
              </a:rPr>
              <a:t>Literature Survey:</a:t>
            </a:r>
          </a:p>
        </p:txBody>
      </p:sp>
      <p:graphicFrame>
        <p:nvGraphicFramePr>
          <p:cNvPr id="2" name="Table 1">
            <a:extLst>
              <a:ext uri="{FF2B5EF4-FFF2-40B4-BE49-F238E27FC236}">
                <a16:creationId xmlns:a16="http://schemas.microsoft.com/office/drawing/2014/main" id="{F66EA1A7-0080-1FA4-835D-29CC381DA31E}"/>
              </a:ext>
            </a:extLst>
          </p:cNvPr>
          <p:cNvGraphicFramePr>
            <a:graphicFrameLocks noGrp="1"/>
          </p:cNvGraphicFramePr>
          <p:nvPr>
            <p:extLst>
              <p:ext uri="{D42A27DB-BD31-4B8C-83A1-F6EECF244321}">
                <p14:modId xmlns:p14="http://schemas.microsoft.com/office/powerpoint/2010/main" val="2749784380"/>
              </p:ext>
            </p:extLst>
          </p:nvPr>
        </p:nvGraphicFramePr>
        <p:xfrm>
          <a:off x="905061" y="1947724"/>
          <a:ext cx="12632705" cy="4334152"/>
        </p:xfrm>
        <a:graphic>
          <a:graphicData uri="http://schemas.openxmlformats.org/drawingml/2006/table">
            <a:tbl>
              <a:tblPr/>
              <a:tblGrid>
                <a:gridCol w="2526541">
                  <a:extLst>
                    <a:ext uri="{9D8B030D-6E8A-4147-A177-3AD203B41FA5}">
                      <a16:colId xmlns:a16="http://schemas.microsoft.com/office/drawing/2014/main" val="362715500"/>
                    </a:ext>
                  </a:extLst>
                </a:gridCol>
                <a:gridCol w="2526541">
                  <a:extLst>
                    <a:ext uri="{9D8B030D-6E8A-4147-A177-3AD203B41FA5}">
                      <a16:colId xmlns:a16="http://schemas.microsoft.com/office/drawing/2014/main" val="1058418206"/>
                    </a:ext>
                  </a:extLst>
                </a:gridCol>
                <a:gridCol w="2526541">
                  <a:extLst>
                    <a:ext uri="{9D8B030D-6E8A-4147-A177-3AD203B41FA5}">
                      <a16:colId xmlns:a16="http://schemas.microsoft.com/office/drawing/2014/main" val="522126619"/>
                    </a:ext>
                  </a:extLst>
                </a:gridCol>
                <a:gridCol w="2526541">
                  <a:extLst>
                    <a:ext uri="{9D8B030D-6E8A-4147-A177-3AD203B41FA5}">
                      <a16:colId xmlns:a16="http://schemas.microsoft.com/office/drawing/2014/main" val="1442398539"/>
                    </a:ext>
                  </a:extLst>
                </a:gridCol>
                <a:gridCol w="2526541">
                  <a:extLst>
                    <a:ext uri="{9D8B030D-6E8A-4147-A177-3AD203B41FA5}">
                      <a16:colId xmlns:a16="http://schemas.microsoft.com/office/drawing/2014/main" val="3825793223"/>
                    </a:ext>
                  </a:extLst>
                </a:gridCol>
              </a:tblGrid>
              <a:tr h="390905">
                <a:tc>
                  <a:txBody>
                    <a:bodyPr/>
                    <a:lstStyle/>
                    <a:p>
                      <a:pPr algn="just">
                        <a:buNone/>
                      </a:pPr>
                      <a:r>
                        <a:rPr lang="en-IN" sz="2400" b="1" dirty="0">
                          <a:latin typeface="Times New Roman" panose="02020603050405020304" pitchFamily="18" charset="0"/>
                          <a:cs typeface="Times New Roman" panose="02020603050405020304" pitchFamily="18" charset="0"/>
                        </a:rPr>
                        <a:t>Author / Year</a:t>
                      </a:r>
                      <a:endParaRPr lang="en-IN" sz="2400" dirty="0">
                        <a:latin typeface="Times New Roman" panose="02020603050405020304" pitchFamily="18" charset="0"/>
                        <a:cs typeface="Times New Roman" panose="02020603050405020304" pitchFamily="18" charset="0"/>
                      </a:endParaRP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400" b="1" dirty="0">
                          <a:latin typeface="Times New Roman" panose="02020603050405020304" pitchFamily="18" charset="0"/>
                          <a:cs typeface="Times New Roman" panose="02020603050405020304" pitchFamily="18" charset="0"/>
                        </a:rPr>
                        <a:t>Focus Area</a:t>
                      </a:r>
                      <a:endParaRPr lang="en-IN" sz="2400" dirty="0">
                        <a:latin typeface="Times New Roman" panose="02020603050405020304" pitchFamily="18" charset="0"/>
                        <a:cs typeface="Times New Roman" panose="02020603050405020304" pitchFamily="18" charset="0"/>
                      </a:endParaRP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400" b="1" dirty="0">
                          <a:latin typeface="Times New Roman" panose="02020603050405020304" pitchFamily="18" charset="0"/>
                          <a:cs typeface="Times New Roman" panose="02020603050405020304" pitchFamily="18" charset="0"/>
                        </a:rPr>
                        <a:t>Findings</a:t>
                      </a:r>
                      <a:endParaRPr lang="en-IN" sz="2400" dirty="0">
                        <a:latin typeface="Times New Roman" panose="02020603050405020304" pitchFamily="18" charset="0"/>
                        <a:cs typeface="Times New Roman" panose="02020603050405020304" pitchFamily="18" charset="0"/>
                      </a:endParaRP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400" b="1" dirty="0">
                          <a:latin typeface="Times New Roman" panose="02020603050405020304" pitchFamily="18" charset="0"/>
                          <a:cs typeface="Times New Roman" panose="02020603050405020304" pitchFamily="18" charset="0"/>
                        </a:rPr>
                        <a:t>Gap Identified</a:t>
                      </a:r>
                      <a:endParaRPr lang="en-IN" sz="2400" dirty="0">
                        <a:latin typeface="Times New Roman" panose="02020603050405020304" pitchFamily="18" charset="0"/>
                        <a:cs typeface="Times New Roman" panose="02020603050405020304" pitchFamily="18" charset="0"/>
                      </a:endParaRP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400" b="1" dirty="0">
                          <a:latin typeface="Times New Roman" panose="02020603050405020304" pitchFamily="18" charset="0"/>
                          <a:cs typeface="Times New Roman" panose="02020603050405020304" pitchFamily="18" charset="0"/>
                        </a:rPr>
                        <a:t>Reference Link</a:t>
                      </a:r>
                      <a:endParaRPr lang="en-IN" sz="2400" dirty="0">
                        <a:latin typeface="Times New Roman" panose="02020603050405020304" pitchFamily="18" charset="0"/>
                        <a:cs typeface="Times New Roman" panose="02020603050405020304" pitchFamily="18" charset="0"/>
                      </a:endParaRP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8575016"/>
                  </a:ext>
                </a:extLst>
              </a:tr>
              <a:tr h="1002755">
                <a:tc>
                  <a:txBody>
                    <a:bodyPr/>
                    <a:lstStyle/>
                    <a:p>
                      <a:pPr algn="just">
                        <a:buNone/>
                      </a:pPr>
                      <a:r>
                        <a:rPr lang="en-IN" sz="2400" dirty="0">
                          <a:latin typeface="Times New Roman" panose="02020603050405020304" pitchFamily="18" charset="0"/>
                          <a:cs typeface="Times New Roman" panose="02020603050405020304" pitchFamily="18" charset="0"/>
                        </a:rPr>
                        <a:t>Pamungkas (2019)</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400" dirty="0">
                          <a:latin typeface="Times New Roman" panose="02020603050405020304" pitchFamily="18" charset="0"/>
                          <a:cs typeface="Times New Roman" panose="02020603050405020304" pitchFamily="18" charset="0"/>
                        </a:rPr>
                        <a:t>Emotionally-Aware Chatbots</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2400" dirty="0">
                          <a:latin typeface="Times New Roman" panose="02020603050405020304" pitchFamily="18" charset="0"/>
                          <a:cs typeface="Times New Roman" panose="02020603050405020304" pitchFamily="18" charset="0"/>
                        </a:rPr>
                        <a:t>Early systems add emotion detection to NLP</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2400" dirty="0">
                          <a:latin typeface="Times New Roman" panose="02020603050405020304" pitchFamily="18" charset="0"/>
                          <a:cs typeface="Times New Roman" panose="02020603050405020304" pitchFamily="18" charset="0"/>
                        </a:rPr>
                        <a:t>Limited emotion nuances and adaptability</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400" dirty="0">
                          <a:latin typeface="Times New Roman" panose="02020603050405020304" pitchFamily="18" charset="0"/>
                          <a:cs typeface="Times New Roman" panose="02020603050405020304" pitchFamily="18" charset="0"/>
                        </a:rPr>
                        <a:t>[Link] (</a:t>
                      </a:r>
                      <a:r>
                        <a:rPr lang="en-IN" sz="2400" dirty="0" err="1">
                          <a:latin typeface="Times New Roman" panose="02020603050405020304" pitchFamily="18" charset="0"/>
                          <a:cs typeface="Times New Roman" panose="02020603050405020304" pitchFamily="18" charset="0"/>
                          <a:hlinkClick r:id="rId3" tooltip="Emotionally-Aware Chatbots: A Survey"/>
                        </a:rPr>
                        <a:t>arXiv</a:t>
                      </a:r>
                      <a:r>
                        <a:rPr lang="en-IN" sz="2400" dirty="0">
                          <a:latin typeface="Times New Roman" panose="02020603050405020304" pitchFamily="18" charset="0"/>
                          <a:cs typeface="Times New Roman" panose="02020603050405020304" pitchFamily="18" charset="0"/>
                        </a:rPr>
                        <a:t>)</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0690436"/>
                  </a:ext>
                </a:extLst>
              </a:tr>
              <a:tr h="1002755">
                <a:tc>
                  <a:txBody>
                    <a:bodyPr/>
                    <a:lstStyle/>
                    <a:p>
                      <a:pPr algn="just">
                        <a:buNone/>
                      </a:pPr>
                      <a:r>
                        <a:rPr lang="en-IN" sz="2400" dirty="0">
                          <a:latin typeface="Times New Roman" panose="02020603050405020304" pitchFamily="18" charset="0"/>
                          <a:cs typeface="Times New Roman" panose="02020603050405020304" pitchFamily="18" charset="0"/>
                        </a:rPr>
                        <a:t>Richardson &amp; Heck (2023)</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400" dirty="0">
                          <a:latin typeface="Times New Roman" panose="02020603050405020304" pitchFamily="18" charset="0"/>
                          <a:cs typeface="Times New Roman" panose="02020603050405020304" pitchFamily="18" charset="0"/>
                        </a:rPr>
                        <a:t>Commonsense Reasoning in AI</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2400" dirty="0">
                          <a:latin typeface="Times New Roman" panose="02020603050405020304" pitchFamily="18" charset="0"/>
                          <a:cs typeface="Times New Roman" panose="02020603050405020304" pitchFamily="18" charset="0"/>
                        </a:rPr>
                        <a:t>Contextual reasoning remains limited in LLMs</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2400" dirty="0">
                          <a:latin typeface="Times New Roman" panose="02020603050405020304" pitchFamily="18" charset="0"/>
                          <a:cs typeface="Times New Roman" panose="02020603050405020304" pitchFamily="18" charset="0"/>
                        </a:rPr>
                        <a:t>Struggle with commonsense, coherent dialogue</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IN" sz="2400" dirty="0">
                          <a:latin typeface="Times New Roman" panose="02020603050405020304" pitchFamily="18" charset="0"/>
                          <a:cs typeface="Times New Roman" panose="02020603050405020304" pitchFamily="18" charset="0"/>
                        </a:rPr>
                        <a:t>[Link] (</a:t>
                      </a:r>
                      <a:r>
                        <a:rPr lang="en-IN" sz="2400" dirty="0" err="1">
                          <a:latin typeface="Times New Roman" panose="02020603050405020304" pitchFamily="18" charset="0"/>
                          <a:cs typeface="Times New Roman" panose="02020603050405020304" pitchFamily="18" charset="0"/>
                          <a:hlinkClick r:id="rId4" tooltip="Commonsense Reasoning for Conversational AI: A Survey of the State of the Art"/>
                        </a:rPr>
                        <a:t>arXiv</a:t>
                      </a:r>
                      <a:r>
                        <a:rPr lang="en-IN" sz="2400" dirty="0">
                          <a:latin typeface="Times New Roman" panose="02020603050405020304" pitchFamily="18" charset="0"/>
                          <a:cs typeface="Times New Roman" panose="02020603050405020304" pitchFamily="18" charset="0"/>
                        </a:rPr>
                        <a:t>)</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2283512"/>
                  </a:ext>
                </a:extLst>
              </a:tr>
              <a:tr h="1308680">
                <a:tc>
                  <a:txBody>
                    <a:bodyPr/>
                    <a:lstStyle/>
                    <a:p>
                      <a:pPr algn="just">
                        <a:buNone/>
                      </a:pPr>
                      <a:r>
                        <a:rPr lang="en-IN" sz="2400" dirty="0">
                          <a:latin typeface="Times New Roman" panose="02020603050405020304" pitchFamily="18" charset="0"/>
                          <a:cs typeface="Times New Roman" panose="02020603050405020304" pitchFamily="18" charset="0"/>
                        </a:rPr>
                        <a:t>Adelusi (2022)</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400" dirty="0">
                          <a:latin typeface="Times New Roman" panose="02020603050405020304" pitchFamily="18" charset="0"/>
                          <a:cs typeface="Times New Roman" panose="02020603050405020304" pitchFamily="18" charset="0"/>
                        </a:rPr>
                        <a:t>Hybrid Chatbot Architectures</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2400" dirty="0">
                          <a:latin typeface="Times New Roman" panose="02020603050405020304" pitchFamily="18" charset="0"/>
                          <a:cs typeface="Times New Roman" panose="02020603050405020304" pitchFamily="18" charset="0"/>
                        </a:rPr>
                        <a:t>Combines rule-based and ML—better accuracy and usability</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400" dirty="0">
                          <a:latin typeface="Times New Roman" panose="02020603050405020304" pitchFamily="18" charset="0"/>
                          <a:cs typeface="Times New Roman" panose="02020603050405020304" pitchFamily="18" charset="0"/>
                        </a:rPr>
                        <a:t>Scalability and integration challenges</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400" dirty="0">
                          <a:latin typeface="Times New Roman" panose="02020603050405020304" pitchFamily="18" charset="0"/>
                          <a:cs typeface="Times New Roman" panose="02020603050405020304" pitchFamily="18" charset="0"/>
                        </a:rPr>
                        <a:t>[Link] (</a:t>
                      </a:r>
                      <a:r>
                        <a:rPr lang="en-IN" sz="2400" dirty="0">
                          <a:latin typeface="Times New Roman" panose="02020603050405020304" pitchFamily="18" charset="0"/>
                          <a:cs typeface="Times New Roman" panose="02020603050405020304" pitchFamily="18" charset="0"/>
                          <a:hlinkClick r:id="rId5" tooltip="(PDF) Hybrid Rule-Based and Machine Learning Chatbots"/>
                        </a:rPr>
                        <a:t>ResearchGate</a:t>
                      </a:r>
                      <a:r>
                        <a:rPr lang="en-IN" sz="2400" dirty="0">
                          <a:latin typeface="Times New Roman" panose="02020603050405020304" pitchFamily="18" charset="0"/>
                          <a:cs typeface="Times New Roman" panose="02020603050405020304" pitchFamily="18" charset="0"/>
                        </a:rPr>
                        <a:t>)</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7453466"/>
                  </a:ext>
                </a:extLst>
              </a:tr>
            </a:tbl>
          </a:graphicData>
        </a:graphic>
      </p:graphicFrame>
    </p:spTree>
    <p:extLst>
      <p:ext uri="{BB962C8B-B14F-4D97-AF65-F5344CB8AC3E}">
        <p14:creationId xmlns:p14="http://schemas.microsoft.com/office/powerpoint/2010/main" val="1619331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E10C42-2E74-EAEF-2293-0422BF228E1E}"/>
              </a:ext>
            </a:extLst>
          </p:cNvPr>
          <p:cNvSpPr txBox="1"/>
          <p:nvPr/>
        </p:nvSpPr>
        <p:spPr>
          <a:xfrm>
            <a:off x="854243" y="561291"/>
            <a:ext cx="7315200" cy="830997"/>
          </a:xfrm>
          <a:prstGeom prst="rect">
            <a:avLst/>
          </a:prstGeom>
          <a:noFill/>
        </p:spPr>
        <p:txBody>
          <a:bodyPr wrap="square">
            <a:spAutoFit/>
          </a:bodyPr>
          <a:lstStyle/>
          <a:p>
            <a:r>
              <a:rPr lang="en-IN" sz="4800" b="1" u="sng" dirty="0">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8C3F97C7-9E09-B634-3EA4-6484E6B16C27}"/>
              </a:ext>
            </a:extLst>
          </p:cNvPr>
          <p:cNvGraphicFramePr>
            <a:graphicFrameLocks noGrp="1"/>
          </p:cNvGraphicFramePr>
          <p:nvPr>
            <p:extLst>
              <p:ext uri="{D42A27DB-BD31-4B8C-83A1-F6EECF244321}">
                <p14:modId xmlns:p14="http://schemas.microsoft.com/office/powerpoint/2010/main" val="286271899"/>
              </p:ext>
            </p:extLst>
          </p:nvPr>
        </p:nvGraphicFramePr>
        <p:xfrm>
          <a:off x="854243" y="2299034"/>
          <a:ext cx="12632705" cy="5199374"/>
        </p:xfrm>
        <a:graphic>
          <a:graphicData uri="http://schemas.openxmlformats.org/drawingml/2006/table">
            <a:tbl>
              <a:tblPr/>
              <a:tblGrid>
                <a:gridCol w="2526541">
                  <a:extLst>
                    <a:ext uri="{9D8B030D-6E8A-4147-A177-3AD203B41FA5}">
                      <a16:colId xmlns:a16="http://schemas.microsoft.com/office/drawing/2014/main" val="1947772457"/>
                    </a:ext>
                  </a:extLst>
                </a:gridCol>
                <a:gridCol w="2526541">
                  <a:extLst>
                    <a:ext uri="{9D8B030D-6E8A-4147-A177-3AD203B41FA5}">
                      <a16:colId xmlns:a16="http://schemas.microsoft.com/office/drawing/2014/main" val="1785710591"/>
                    </a:ext>
                  </a:extLst>
                </a:gridCol>
                <a:gridCol w="2526541">
                  <a:extLst>
                    <a:ext uri="{9D8B030D-6E8A-4147-A177-3AD203B41FA5}">
                      <a16:colId xmlns:a16="http://schemas.microsoft.com/office/drawing/2014/main" val="3591187975"/>
                    </a:ext>
                  </a:extLst>
                </a:gridCol>
                <a:gridCol w="2526541">
                  <a:extLst>
                    <a:ext uri="{9D8B030D-6E8A-4147-A177-3AD203B41FA5}">
                      <a16:colId xmlns:a16="http://schemas.microsoft.com/office/drawing/2014/main" val="439154766"/>
                    </a:ext>
                  </a:extLst>
                </a:gridCol>
                <a:gridCol w="2526541">
                  <a:extLst>
                    <a:ext uri="{9D8B030D-6E8A-4147-A177-3AD203B41FA5}">
                      <a16:colId xmlns:a16="http://schemas.microsoft.com/office/drawing/2014/main" val="1317170625"/>
                    </a:ext>
                  </a:extLst>
                </a:gridCol>
              </a:tblGrid>
              <a:tr h="1308680">
                <a:tc>
                  <a:txBody>
                    <a:bodyPr/>
                    <a:lstStyle/>
                    <a:p>
                      <a:pPr algn="ctr">
                        <a:buNone/>
                      </a:pPr>
                      <a:r>
                        <a:rPr lang="en-IN" sz="2400" b="1" dirty="0">
                          <a:latin typeface="Times New Roman" panose="02020603050405020304" pitchFamily="18" charset="0"/>
                          <a:cs typeface="Times New Roman" panose="02020603050405020304" pitchFamily="18" charset="0"/>
                        </a:rPr>
                        <a:t>Author / Year</a:t>
                      </a:r>
                      <a:endParaRPr lang="en-IN" sz="2400" dirty="0">
                        <a:latin typeface="Times New Roman" panose="02020603050405020304" pitchFamily="18" charset="0"/>
                        <a:cs typeface="Times New Roman" panose="02020603050405020304" pitchFamily="18" charset="0"/>
                      </a:endParaRP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b="1" dirty="0">
                          <a:latin typeface="Times New Roman" panose="02020603050405020304" pitchFamily="18" charset="0"/>
                          <a:cs typeface="Times New Roman" panose="02020603050405020304" pitchFamily="18" charset="0"/>
                        </a:rPr>
                        <a:t>Focus Area</a:t>
                      </a:r>
                      <a:endParaRPr lang="en-IN" sz="2400" dirty="0">
                        <a:latin typeface="Times New Roman" panose="02020603050405020304" pitchFamily="18" charset="0"/>
                        <a:cs typeface="Times New Roman" panose="02020603050405020304" pitchFamily="18" charset="0"/>
                      </a:endParaRP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b="1" dirty="0">
                          <a:latin typeface="Times New Roman" panose="02020603050405020304" pitchFamily="18" charset="0"/>
                          <a:cs typeface="Times New Roman" panose="02020603050405020304" pitchFamily="18" charset="0"/>
                        </a:rPr>
                        <a:t>Findings</a:t>
                      </a:r>
                      <a:endParaRPr lang="en-IN" sz="2400" dirty="0">
                        <a:latin typeface="Times New Roman" panose="02020603050405020304" pitchFamily="18" charset="0"/>
                        <a:cs typeface="Times New Roman" panose="02020603050405020304" pitchFamily="18" charset="0"/>
                      </a:endParaRP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b="1" dirty="0">
                          <a:latin typeface="Times New Roman" panose="02020603050405020304" pitchFamily="18" charset="0"/>
                          <a:cs typeface="Times New Roman" panose="02020603050405020304" pitchFamily="18" charset="0"/>
                        </a:rPr>
                        <a:t>Gap Identified</a:t>
                      </a:r>
                      <a:endParaRPr lang="en-IN" sz="2400" dirty="0">
                        <a:latin typeface="Times New Roman" panose="02020603050405020304" pitchFamily="18" charset="0"/>
                        <a:cs typeface="Times New Roman" panose="02020603050405020304" pitchFamily="18" charset="0"/>
                      </a:endParaRP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2400" b="1" dirty="0">
                          <a:latin typeface="Times New Roman" panose="02020603050405020304" pitchFamily="18" charset="0"/>
                          <a:cs typeface="Times New Roman" panose="02020603050405020304" pitchFamily="18" charset="0"/>
                        </a:rPr>
                        <a:t>Reference Link</a:t>
                      </a:r>
                      <a:endParaRPr lang="en-IN" sz="2400" dirty="0">
                        <a:latin typeface="Times New Roman" panose="02020603050405020304" pitchFamily="18" charset="0"/>
                        <a:cs typeface="Times New Roman" panose="02020603050405020304" pitchFamily="18" charset="0"/>
                      </a:endParaRP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5217523"/>
                  </a:ext>
                </a:extLst>
              </a:tr>
              <a:tr h="1308680">
                <a:tc>
                  <a:txBody>
                    <a:bodyPr/>
                    <a:lstStyle/>
                    <a:p>
                      <a:pPr algn="just">
                        <a:buNone/>
                      </a:pPr>
                      <a:r>
                        <a:rPr lang="en-IN" sz="2400" dirty="0">
                          <a:latin typeface="Times New Roman" panose="02020603050405020304" pitchFamily="18" charset="0"/>
                          <a:cs typeface="Times New Roman" panose="02020603050405020304" pitchFamily="18" charset="0"/>
                        </a:rPr>
                        <a:t>Adelusi (2022)</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400" dirty="0">
                          <a:latin typeface="Times New Roman" panose="02020603050405020304" pitchFamily="18" charset="0"/>
                          <a:cs typeface="Times New Roman" panose="02020603050405020304" pitchFamily="18" charset="0"/>
                        </a:rPr>
                        <a:t>Hybrid Chatbot Architectures</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2400" dirty="0">
                          <a:latin typeface="Times New Roman" panose="02020603050405020304" pitchFamily="18" charset="0"/>
                          <a:cs typeface="Times New Roman" panose="02020603050405020304" pitchFamily="18" charset="0"/>
                        </a:rPr>
                        <a:t>Combines rule-based and ML—better accuracy and usability</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400" dirty="0">
                          <a:latin typeface="Times New Roman" panose="02020603050405020304" pitchFamily="18" charset="0"/>
                          <a:cs typeface="Times New Roman" panose="02020603050405020304" pitchFamily="18" charset="0"/>
                        </a:rPr>
                        <a:t>Scalability and integration challenges</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400" dirty="0">
                          <a:latin typeface="Times New Roman" panose="02020603050405020304" pitchFamily="18" charset="0"/>
                          <a:cs typeface="Times New Roman" panose="02020603050405020304" pitchFamily="18" charset="0"/>
                        </a:rPr>
                        <a:t>[Link] (</a:t>
                      </a:r>
                      <a:r>
                        <a:rPr lang="en-IN" sz="2400" dirty="0">
                          <a:latin typeface="Times New Roman" panose="02020603050405020304" pitchFamily="18" charset="0"/>
                          <a:cs typeface="Times New Roman" panose="02020603050405020304" pitchFamily="18" charset="0"/>
                          <a:hlinkClick r:id="rId2" tooltip="(PDF) Hybrid Rule-Based and Machine Learning Chatbots"/>
                        </a:rPr>
                        <a:t>ResearchGate</a:t>
                      </a:r>
                      <a:r>
                        <a:rPr lang="en-IN" sz="2400" dirty="0">
                          <a:latin typeface="Times New Roman" panose="02020603050405020304" pitchFamily="18" charset="0"/>
                          <a:cs typeface="Times New Roman" panose="02020603050405020304" pitchFamily="18" charset="0"/>
                        </a:rPr>
                        <a:t>)</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059534"/>
                  </a:ext>
                </a:extLst>
              </a:tr>
              <a:tr h="1002755">
                <a:tc>
                  <a:txBody>
                    <a:bodyPr/>
                    <a:lstStyle/>
                    <a:p>
                      <a:pPr algn="just">
                        <a:buNone/>
                      </a:pPr>
                      <a:r>
                        <a:rPr lang="en-IN" sz="2400" dirty="0">
                          <a:latin typeface="Times New Roman" panose="02020603050405020304" pitchFamily="18" charset="0"/>
                          <a:cs typeface="Times New Roman" panose="02020603050405020304" pitchFamily="18" charset="0"/>
                        </a:rPr>
                        <a:t>Izadi (2024)</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400" dirty="0">
                          <a:latin typeface="Times New Roman" panose="02020603050405020304" pitchFamily="18" charset="0"/>
                          <a:cs typeface="Times New Roman" panose="02020603050405020304" pitchFamily="18" charset="0"/>
                        </a:rPr>
                        <a:t>Error Correction in Conversational AI</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2400" dirty="0">
                          <a:latin typeface="Times New Roman" panose="02020603050405020304" pitchFamily="18" charset="0"/>
                          <a:cs typeface="Times New Roman" panose="02020603050405020304" pitchFamily="18" charset="0"/>
                        </a:rPr>
                        <a:t>Feedback loops and RL boost reliability</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buNone/>
                      </a:pPr>
                      <a:r>
                        <a:rPr lang="en-US" sz="2400" dirty="0">
                          <a:latin typeface="Times New Roman" panose="02020603050405020304" pitchFamily="18" charset="0"/>
                          <a:cs typeface="Times New Roman" panose="02020603050405020304" pitchFamily="18" charset="0"/>
                        </a:rPr>
                        <a:t>Combating factual errors and bias remains tough</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400" dirty="0">
                          <a:latin typeface="Times New Roman" panose="02020603050405020304" pitchFamily="18" charset="0"/>
                          <a:cs typeface="Times New Roman" panose="02020603050405020304" pitchFamily="18" charset="0"/>
                        </a:rPr>
                        <a:t>[Link] (</a:t>
                      </a:r>
                      <a:r>
                        <a:rPr lang="en-IN" sz="2400" dirty="0">
                          <a:latin typeface="Times New Roman" panose="02020603050405020304" pitchFamily="18" charset="0"/>
                          <a:cs typeface="Times New Roman" panose="02020603050405020304" pitchFamily="18" charset="0"/>
                          <a:hlinkClick r:id="rId3" tooltip="Error Correction and Adaptation in Conversational AI"/>
                        </a:rPr>
                        <a:t>MDPI</a:t>
                      </a:r>
                      <a:r>
                        <a:rPr lang="en-IN" sz="2400" dirty="0">
                          <a:latin typeface="Times New Roman" panose="02020603050405020304" pitchFamily="18" charset="0"/>
                          <a:cs typeface="Times New Roman" panose="02020603050405020304" pitchFamily="18" charset="0"/>
                        </a:rPr>
                        <a:t>)</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9309371"/>
                  </a:ext>
                </a:extLst>
              </a:tr>
              <a:tr h="1002755">
                <a:tc>
                  <a:txBody>
                    <a:bodyPr/>
                    <a:lstStyle/>
                    <a:p>
                      <a:pPr algn="just">
                        <a:buNone/>
                      </a:pPr>
                      <a:r>
                        <a:rPr lang="en-IN" sz="2400" dirty="0">
                          <a:latin typeface="Times New Roman" panose="02020603050405020304" pitchFamily="18" charset="0"/>
                          <a:cs typeface="Times New Roman" panose="02020603050405020304" pitchFamily="18" charset="0"/>
                        </a:rPr>
                        <a:t>Singh (2025)</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400" dirty="0">
                          <a:latin typeface="Times New Roman" panose="02020603050405020304" pitchFamily="18" charset="0"/>
                          <a:cs typeface="Times New Roman" panose="02020603050405020304" pitchFamily="18" charset="0"/>
                        </a:rPr>
                        <a:t>Large Language Models in Chatbots</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2400" dirty="0">
                          <a:latin typeface="Times New Roman" panose="02020603050405020304" pitchFamily="18" charset="0"/>
                          <a:cs typeface="Times New Roman" panose="02020603050405020304" pitchFamily="18" charset="0"/>
                        </a:rPr>
                        <a:t>LLMs bring richer performance and evaluations</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2400" dirty="0">
                          <a:latin typeface="Times New Roman" panose="02020603050405020304" pitchFamily="18" charset="0"/>
                          <a:cs typeface="Times New Roman" panose="02020603050405020304" pitchFamily="18" charset="0"/>
                        </a:rPr>
                        <a:t>Testing and consistency gaps remain</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400" dirty="0">
                          <a:latin typeface="Times New Roman" panose="02020603050405020304" pitchFamily="18" charset="0"/>
                          <a:cs typeface="Times New Roman" panose="02020603050405020304" pitchFamily="18" charset="0"/>
                        </a:rPr>
                        <a:t>[Link] (</a:t>
                      </a:r>
                      <a:r>
                        <a:rPr lang="en-IN" sz="2400" dirty="0">
                          <a:latin typeface="Times New Roman" panose="02020603050405020304" pitchFamily="18" charset="0"/>
                          <a:cs typeface="Times New Roman" panose="02020603050405020304" pitchFamily="18" charset="0"/>
                          <a:hlinkClick r:id="rId4" tooltip="A survey on chatbots and large language models: Testing ..."/>
                        </a:rPr>
                        <a:t>ScienceDirect</a:t>
                      </a:r>
                      <a:r>
                        <a:rPr lang="en-IN" sz="2400" dirty="0">
                          <a:latin typeface="Times New Roman" panose="02020603050405020304" pitchFamily="18" charset="0"/>
                          <a:cs typeface="Times New Roman" panose="02020603050405020304" pitchFamily="18" charset="0"/>
                        </a:rPr>
                        <a:t>)</a:t>
                      </a:r>
                    </a:p>
                  </a:txBody>
                  <a:tcPr marL="77698" marR="77698" marT="38849" marB="388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8275608"/>
                  </a:ext>
                </a:extLst>
              </a:tr>
            </a:tbl>
          </a:graphicData>
        </a:graphic>
      </p:graphicFrame>
    </p:spTree>
    <p:extLst>
      <p:ext uri="{BB962C8B-B14F-4D97-AF65-F5344CB8AC3E}">
        <p14:creationId xmlns:p14="http://schemas.microsoft.com/office/powerpoint/2010/main" val="2037154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69FDA-4F86-71D2-EF4C-BF1AEBD7724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5B50936-78F7-220E-A04C-86DCE3200C26}"/>
              </a:ext>
            </a:extLst>
          </p:cNvPr>
          <p:cNvSpPr txBox="1"/>
          <p:nvPr/>
        </p:nvSpPr>
        <p:spPr>
          <a:xfrm>
            <a:off x="854243" y="561291"/>
            <a:ext cx="7315200" cy="830997"/>
          </a:xfrm>
          <a:prstGeom prst="rect">
            <a:avLst/>
          </a:prstGeom>
          <a:noFill/>
        </p:spPr>
        <p:txBody>
          <a:bodyPr wrap="square">
            <a:spAutoFit/>
          </a:bodyPr>
          <a:lstStyle/>
          <a:p>
            <a:r>
              <a:rPr lang="en-US" sz="4800" b="1" u="sng" dirty="0">
                <a:latin typeface="Times New Roman" panose="02020603050405020304" pitchFamily="18" charset="0"/>
                <a:cs typeface="Times New Roman" panose="02020603050405020304" pitchFamily="18" charset="0"/>
              </a:rPr>
              <a:t>E</a:t>
            </a:r>
            <a:r>
              <a:rPr lang="en-IN" sz="4800" b="1" u="sng" dirty="0" err="1">
                <a:latin typeface="Times New Roman" panose="02020603050405020304" pitchFamily="18" charset="0"/>
                <a:cs typeface="Times New Roman" panose="02020603050405020304" pitchFamily="18" charset="0"/>
              </a:rPr>
              <a:t>xisting</a:t>
            </a:r>
            <a:r>
              <a:rPr lang="en-IN" sz="4800" b="1" u="sng" dirty="0">
                <a:latin typeface="Times New Roman" panose="02020603050405020304" pitchFamily="18" charset="0"/>
                <a:cs typeface="Times New Roman" panose="02020603050405020304" pitchFamily="18" charset="0"/>
              </a:rPr>
              <a:t> System Overview</a:t>
            </a:r>
          </a:p>
        </p:txBody>
      </p:sp>
      <p:sp>
        <p:nvSpPr>
          <p:cNvPr id="7" name="TextBox 6">
            <a:extLst>
              <a:ext uri="{FF2B5EF4-FFF2-40B4-BE49-F238E27FC236}">
                <a16:creationId xmlns:a16="http://schemas.microsoft.com/office/drawing/2014/main" id="{F16413D5-D85D-C2E4-15E6-AEF4497E9588}"/>
              </a:ext>
            </a:extLst>
          </p:cNvPr>
          <p:cNvSpPr txBox="1"/>
          <p:nvPr/>
        </p:nvSpPr>
        <p:spPr>
          <a:xfrm>
            <a:off x="854243" y="2127734"/>
            <a:ext cx="13150517" cy="4832092"/>
          </a:xfrm>
          <a:prstGeom prst="rect">
            <a:avLst/>
          </a:prstGeom>
          <a:noFill/>
        </p:spPr>
        <p:txBody>
          <a:bodyPr wrap="square">
            <a:spAutoFit/>
          </a:bodyPr>
          <a:lstStyle/>
          <a:p>
            <a:pPr marL="342900" marR="0" lvl="0" indent="-342900" algn="just" defTabSz="4572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Existing customer service systems include:</a:t>
            </a:r>
          </a:p>
          <a:p>
            <a:pPr marR="0" lvl="0" algn="just" defTabSz="457200" rtl="0" eaLnBrk="1" fontAlgn="auto" latinLnBrk="0" hangingPunct="1">
              <a:lnSpc>
                <a:spcPct val="100000"/>
              </a:lnSpc>
              <a:spcBef>
                <a:spcPts val="0"/>
              </a:spcBef>
              <a:spcAft>
                <a:spcPts val="0"/>
              </a:spcAft>
              <a:buClrTx/>
              <a:buSzTx/>
              <a:tabLst/>
              <a:defRPr/>
            </a:pPr>
            <a:endParaRPr kumimoji="0" lang="en-US"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solidFill>
                  <a:prstClr val="white"/>
                </a:solidFill>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Manual support systems requiring human agents</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solidFill>
                  <a:prstClr val="white"/>
                </a:solidFill>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Rule-based chatbots with limited responses</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solidFill>
                  <a:prstClr val="white"/>
                </a:solidFill>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Cloud-based AI chatbots dependent on APIs</a:t>
            </a:r>
            <a:endParaRPr lang="en-US" sz="2800" dirty="0">
              <a:solidFill>
                <a:prstClr val="white"/>
              </a:solidFill>
              <a:latin typeface="Times New Roman" panose="02020603050405020304" pitchFamily="18" charset="0"/>
              <a:cs typeface="Times New Roman" panose="02020603050405020304" pitchFamily="18" charset="0"/>
            </a:endParaRPr>
          </a:p>
          <a:p>
            <a:pPr marR="0" lvl="0" algn="just" defTabSz="457200" rtl="0" eaLnBrk="1" fontAlgn="auto" latinLnBrk="0" hangingPunct="1">
              <a:lnSpc>
                <a:spcPct val="100000"/>
              </a:lnSpc>
              <a:spcBef>
                <a:spcPts val="0"/>
              </a:spcBef>
              <a:spcAft>
                <a:spcPts val="0"/>
              </a:spcAft>
              <a:buClrTx/>
              <a:buSzTx/>
              <a:tabLst/>
              <a:defRPr/>
            </a:pPr>
            <a:endParaRPr kumimoji="0" lang="en-US"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4572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Limitations:</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solidFill>
                  <a:prstClr val="white"/>
                </a:solidFill>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High operational cost</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solidFill>
                  <a:prstClr val="white"/>
                </a:solidFill>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Dependency on internet and APIs</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solidFill>
                  <a:prstClr val="white"/>
                </a:solidFill>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Limited scalability in rule-based systems</a:t>
            </a:r>
          </a:p>
          <a:p>
            <a:pPr marL="457200" marR="0" lvl="0" indent="-45720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solidFill>
                  <a:prstClr val="white"/>
                </a:solidFill>
                <a:latin typeface="Times New Roman" panose="02020603050405020304" pitchFamily="18" charset="0"/>
                <a:cs typeface="Times New Roman" panose="02020603050405020304" pitchFamily="18" charset="0"/>
              </a:rPr>
              <a:t>	</a:t>
            </a:r>
            <a:r>
              <a:rPr kumimoji="0" lang="en-US" sz="2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Slow response time in manual systems</a:t>
            </a:r>
          </a:p>
        </p:txBody>
      </p:sp>
    </p:spTree>
    <p:extLst>
      <p:ext uri="{BB962C8B-B14F-4D97-AF65-F5344CB8AC3E}">
        <p14:creationId xmlns:p14="http://schemas.microsoft.com/office/powerpoint/2010/main" val="1457984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1D47C-11F0-ABBA-1449-CD6587A97A95}"/>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FC29DEBE-8009-7BFA-C605-D753E708CB2D}"/>
              </a:ext>
            </a:extLst>
          </p:cNvPr>
          <p:cNvSpPr txBox="1"/>
          <p:nvPr/>
        </p:nvSpPr>
        <p:spPr>
          <a:xfrm>
            <a:off x="1026075" y="633946"/>
            <a:ext cx="5978769" cy="830997"/>
          </a:xfrm>
          <a:prstGeom prst="rect">
            <a:avLst/>
          </a:prstGeom>
          <a:noFill/>
        </p:spPr>
        <p:txBody>
          <a:bodyPr wrap="square" rtlCol="0">
            <a:spAutoFit/>
          </a:bodyPr>
          <a:lstStyle/>
          <a:p>
            <a:r>
              <a:rPr lang="en-IN" sz="4800" b="1" u="sng" dirty="0">
                <a:latin typeface="Times New Roman" panose="02020603050405020304" pitchFamily="18" charset="0"/>
                <a:cs typeface="Times New Roman" panose="02020603050405020304" pitchFamily="18" charset="0"/>
              </a:rPr>
              <a:t>Proposed System:</a:t>
            </a:r>
          </a:p>
        </p:txBody>
      </p:sp>
      <p:sp>
        <p:nvSpPr>
          <p:cNvPr id="19" name="TextBox 18">
            <a:extLst>
              <a:ext uri="{FF2B5EF4-FFF2-40B4-BE49-F238E27FC236}">
                <a16:creationId xmlns:a16="http://schemas.microsoft.com/office/drawing/2014/main" id="{68E4B1BC-66DA-6AF7-90B9-7DC8EE8A58B4}"/>
              </a:ext>
            </a:extLst>
          </p:cNvPr>
          <p:cNvSpPr txBox="1"/>
          <p:nvPr/>
        </p:nvSpPr>
        <p:spPr>
          <a:xfrm>
            <a:off x="557152" y="1932565"/>
            <a:ext cx="12895385" cy="4832092"/>
          </a:xfrm>
          <a:prstGeom prst="rect">
            <a:avLst/>
          </a:prstGeom>
          <a:noFill/>
        </p:spPr>
        <p:txBody>
          <a:bodyPr wrap="square">
            <a:spAutoFit/>
          </a:bodyPr>
          <a:lstStyle/>
          <a:p>
            <a:pPr marL="342900" indent="-3429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The objective of this project is to develop an AI-driven chatbot that automates routine queries and processes, thereby reducing response times and minimizing the need for manual intervention. By leveraging natural language processing and contextual understanding, the chatbot aims to provide real-time, personalized customer support tailored to individual needs. </a:t>
            </a:r>
          </a:p>
          <a:p>
            <a:pPr algn="just"/>
            <a:endParaRPr lang="en-US" sz="28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This will not only optimize workforce efficiency by offloading repetitive tasks and allowing human agents to focus on complex, high-value interactions but also ensure a scalable and cost-effective customer service model capable of handling growing user demands while maintaining high levels of accuracy, reliability, and customer satisfaction.</a:t>
            </a:r>
          </a:p>
        </p:txBody>
      </p:sp>
    </p:spTree>
    <p:extLst>
      <p:ext uri="{BB962C8B-B14F-4D97-AF65-F5344CB8AC3E}">
        <p14:creationId xmlns:p14="http://schemas.microsoft.com/office/powerpoint/2010/main" val="2436379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794B5-A111-2A91-38F6-F40706EA7BB3}"/>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C3E42C74-6C7D-81B6-668D-D01F570F7516}"/>
              </a:ext>
            </a:extLst>
          </p:cNvPr>
          <p:cNvSpPr txBox="1"/>
          <p:nvPr/>
        </p:nvSpPr>
        <p:spPr>
          <a:xfrm>
            <a:off x="989982" y="200579"/>
            <a:ext cx="5978769" cy="830997"/>
          </a:xfrm>
          <a:prstGeom prst="rect">
            <a:avLst/>
          </a:prstGeom>
          <a:noFill/>
        </p:spPr>
        <p:txBody>
          <a:bodyPr wrap="square" rtlCol="0">
            <a:spAutoFit/>
          </a:bodyPr>
          <a:lstStyle/>
          <a:p>
            <a:r>
              <a:rPr lang="en-IN" sz="4800" b="1" u="sng" dirty="0">
                <a:latin typeface="Times New Roman" panose="02020603050405020304" pitchFamily="18" charset="0"/>
                <a:cs typeface="Times New Roman" panose="02020603050405020304" pitchFamily="18" charset="0"/>
              </a:rPr>
              <a:t>Methodology:</a:t>
            </a:r>
          </a:p>
        </p:txBody>
      </p:sp>
      <p:sp>
        <p:nvSpPr>
          <p:cNvPr id="19" name="TextBox 18">
            <a:extLst>
              <a:ext uri="{FF2B5EF4-FFF2-40B4-BE49-F238E27FC236}">
                <a16:creationId xmlns:a16="http://schemas.microsoft.com/office/drawing/2014/main" id="{FA53405B-D47D-2425-64FA-15A206FA9EF8}"/>
              </a:ext>
            </a:extLst>
          </p:cNvPr>
          <p:cNvSpPr txBox="1"/>
          <p:nvPr/>
        </p:nvSpPr>
        <p:spPr>
          <a:xfrm>
            <a:off x="472933" y="1400864"/>
            <a:ext cx="7684478" cy="7109639"/>
          </a:xfrm>
          <a:prstGeom prst="rect">
            <a:avLst/>
          </a:prstGeom>
          <a:noFill/>
        </p:spPr>
        <p:txBody>
          <a:bodyPr wrap="square">
            <a:spAutoFit/>
          </a:bodyPr>
          <a:lstStyle/>
          <a:p>
            <a:pPr marL="342900" indent="-342900" algn="jus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System Working Process</a:t>
            </a:r>
          </a:p>
          <a:p>
            <a:pPr algn="just"/>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 Step 1: User </a:t>
            </a:r>
            <a:r>
              <a:rPr lang="en-IN" sz="2400" dirty="0" err="1">
                <a:latin typeface="Times New Roman" panose="02020603050405020304" pitchFamily="18" charset="0"/>
                <a:cs typeface="Times New Roman" panose="02020603050405020304" pitchFamily="18" charset="0"/>
              </a:rPr>
              <a:t>InputUser</a:t>
            </a:r>
            <a:r>
              <a:rPr lang="en-IN" sz="2400" dirty="0">
                <a:latin typeface="Times New Roman" panose="02020603050405020304" pitchFamily="18" charset="0"/>
                <a:cs typeface="Times New Roman" panose="02020603050405020304" pitchFamily="18" charset="0"/>
              </a:rPr>
              <a:t> sends query through the web interface.</a:t>
            </a:r>
          </a:p>
          <a:p>
            <a:pPr marL="342900" indent="-342900" algn="just">
              <a:buFont typeface="Wingdings" panose="05000000000000000000" pitchFamily="2" charset="2"/>
              <a:buChar char="v"/>
            </a:pP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 Step 2: Greeting </a:t>
            </a:r>
            <a:r>
              <a:rPr lang="en-IN" sz="2400" dirty="0" err="1">
                <a:latin typeface="Times New Roman" panose="02020603050405020304" pitchFamily="18" charset="0"/>
                <a:cs typeface="Times New Roman" panose="02020603050405020304" pitchFamily="18" charset="0"/>
              </a:rPr>
              <a:t>DetectionSystem</a:t>
            </a:r>
            <a:r>
              <a:rPr lang="en-IN" sz="2400" dirty="0">
                <a:latin typeface="Times New Roman" panose="02020603050405020304" pitchFamily="18" charset="0"/>
                <a:cs typeface="Times New Roman" panose="02020603050405020304" pitchFamily="18" charset="0"/>
              </a:rPr>
              <a:t> checks if input is a greeting → returns predefined response.</a:t>
            </a:r>
          </a:p>
          <a:p>
            <a:pPr marL="342900" indent="-342900" algn="just">
              <a:buFont typeface="Wingdings" panose="05000000000000000000" pitchFamily="2" charset="2"/>
              <a:buChar char="v"/>
            </a:pP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 Step 3: FAQ Matching (Database Layer)Exact match </a:t>
            </a:r>
            <a:r>
              <a:rPr lang="en-IN" sz="2400" dirty="0" err="1">
                <a:latin typeface="Times New Roman" panose="02020603050405020304" pitchFamily="18" charset="0"/>
                <a:cs typeface="Times New Roman" panose="02020603050405020304" pitchFamily="18" charset="0"/>
              </a:rPr>
              <a:t>searchSimilar</a:t>
            </a:r>
            <a:r>
              <a:rPr lang="en-IN" sz="2400" dirty="0">
                <a:latin typeface="Times New Roman" panose="02020603050405020304" pitchFamily="18" charset="0"/>
                <a:cs typeface="Times New Roman" panose="02020603050405020304" pitchFamily="18" charset="0"/>
              </a:rPr>
              <a:t> match using SQL LIKE </a:t>
            </a:r>
            <a:r>
              <a:rPr lang="en-IN" sz="2400" dirty="0" err="1">
                <a:latin typeface="Times New Roman" panose="02020603050405020304" pitchFamily="18" charset="0"/>
                <a:cs typeface="Times New Roman" panose="02020603050405020304" pitchFamily="18" charset="0"/>
              </a:rPr>
              <a:t>queryIf</a:t>
            </a:r>
            <a:r>
              <a:rPr lang="en-IN" sz="2400" dirty="0">
                <a:latin typeface="Times New Roman" panose="02020603050405020304" pitchFamily="18" charset="0"/>
                <a:cs typeface="Times New Roman" panose="02020603050405020304" pitchFamily="18" charset="0"/>
              </a:rPr>
              <a:t> match found → instant response.</a:t>
            </a:r>
          </a:p>
          <a:p>
            <a:pPr marL="342900" indent="-342900" algn="just">
              <a:buFont typeface="Wingdings" panose="05000000000000000000" pitchFamily="2" charset="2"/>
              <a:buChar char="v"/>
            </a:pP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 Step 4: AI Fallback (</a:t>
            </a:r>
            <a:r>
              <a:rPr lang="en-IN" sz="2400" dirty="0" err="1">
                <a:latin typeface="Times New Roman" panose="02020603050405020304" pitchFamily="18" charset="0"/>
                <a:cs typeface="Times New Roman" panose="02020603050405020304" pitchFamily="18" charset="0"/>
              </a:rPr>
              <a:t>TinyLlama</a:t>
            </a:r>
            <a:r>
              <a:rPr lang="en-IN" sz="2400" dirty="0">
                <a:latin typeface="Times New Roman" panose="02020603050405020304" pitchFamily="18" charset="0"/>
                <a:cs typeface="Times New Roman" panose="02020603050405020304" pitchFamily="18" charset="0"/>
              </a:rPr>
              <a:t> via Ollama)If no FAQ match →Retrieve chat </a:t>
            </a:r>
            <a:r>
              <a:rPr lang="en-IN" sz="2400" dirty="0" err="1">
                <a:latin typeface="Times New Roman" panose="02020603050405020304" pitchFamily="18" charset="0"/>
                <a:cs typeface="Times New Roman" panose="02020603050405020304" pitchFamily="18" charset="0"/>
              </a:rPr>
              <a:t>historyGenerate</a:t>
            </a:r>
            <a:r>
              <a:rPr lang="en-IN" sz="2400" dirty="0">
                <a:latin typeface="Times New Roman" panose="02020603050405020304" pitchFamily="18" charset="0"/>
                <a:cs typeface="Times New Roman" panose="02020603050405020304" pitchFamily="18" charset="0"/>
              </a:rPr>
              <a:t> intelligent response using local LLM.</a:t>
            </a:r>
          </a:p>
          <a:p>
            <a:pPr marL="342900" indent="-342900" algn="just">
              <a:buFont typeface="Wingdings" panose="05000000000000000000" pitchFamily="2" charset="2"/>
              <a:buChar char="v"/>
            </a:pP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 Step 5: Store &amp; Return </a:t>
            </a:r>
            <a:r>
              <a:rPr lang="en-IN" sz="2400" dirty="0" err="1">
                <a:latin typeface="Times New Roman" panose="02020603050405020304" pitchFamily="18" charset="0"/>
                <a:cs typeface="Times New Roman" panose="02020603050405020304" pitchFamily="18" charset="0"/>
              </a:rPr>
              <a:t>ResponseSave</a:t>
            </a:r>
            <a:r>
              <a:rPr lang="en-IN" sz="2400" dirty="0">
                <a:latin typeface="Times New Roman" panose="02020603050405020304" pitchFamily="18" charset="0"/>
                <a:cs typeface="Times New Roman" panose="02020603050405020304" pitchFamily="18" charset="0"/>
              </a:rPr>
              <a:t> user query + bot reply in </a:t>
            </a:r>
            <a:r>
              <a:rPr lang="en-IN" sz="2400" dirty="0" err="1">
                <a:latin typeface="Times New Roman" panose="02020603050405020304" pitchFamily="18" charset="0"/>
                <a:cs typeface="Times New Roman" panose="02020603050405020304" pitchFamily="18" charset="0"/>
              </a:rPr>
              <a:t>MySQLMaintain</a:t>
            </a:r>
            <a:r>
              <a:rPr lang="en-IN" sz="2400" dirty="0">
                <a:latin typeface="Times New Roman" panose="02020603050405020304" pitchFamily="18" charset="0"/>
                <a:cs typeface="Times New Roman" panose="02020603050405020304" pitchFamily="18" charset="0"/>
              </a:rPr>
              <a:t> session-based chat history.</a:t>
            </a:r>
            <a:br>
              <a:rPr lang="en-IN"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2C14CCE-7EAA-F672-2936-AAAB61972582}"/>
              </a:ext>
            </a:extLst>
          </p:cNvPr>
          <p:cNvPicPr>
            <a:picLocks noChangeAspect="1"/>
          </p:cNvPicPr>
          <p:nvPr/>
        </p:nvPicPr>
        <p:blipFill>
          <a:blip r:embed="rId3"/>
          <a:srcRect l="5046" r="11311"/>
          <a:stretch>
            <a:fillRect/>
          </a:stretch>
        </p:blipFill>
        <p:spPr>
          <a:xfrm>
            <a:off x="8157411" y="920917"/>
            <a:ext cx="6232357" cy="6196577"/>
          </a:xfrm>
          <a:prstGeom prst="rect">
            <a:avLst/>
          </a:prstGeom>
        </p:spPr>
      </p:pic>
      <p:sp>
        <p:nvSpPr>
          <p:cNvPr id="4" name="TextBox 3">
            <a:extLst>
              <a:ext uri="{FF2B5EF4-FFF2-40B4-BE49-F238E27FC236}">
                <a16:creationId xmlns:a16="http://schemas.microsoft.com/office/drawing/2014/main" id="{10E3B747-32F7-C42D-CE2A-77562ED8DDEC}"/>
              </a:ext>
            </a:extLst>
          </p:cNvPr>
          <p:cNvSpPr txBox="1"/>
          <p:nvPr/>
        </p:nvSpPr>
        <p:spPr>
          <a:xfrm>
            <a:off x="9865895" y="7351295"/>
            <a:ext cx="409073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SYSTEM  OVERVIEW  DIAGRAM</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6440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437F4-61BA-BB2A-E328-33449B529D82}"/>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B76C2890-6E66-7765-6D4F-D71B447A8CCB}"/>
              </a:ext>
            </a:extLst>
          </p:cNvPr>
          <p:cNvSpPr txBox="1"/>
          <p:nvPr/>
        </p:nvSpPr>
        <p:spPr>
          <a:xfrm>
            <a:off x="1242645" y="405116"/>
            <a:ext cx="6658709" cy="830997"/>
          </a:xfrm>
          <a:prstGeom prst="rect">
            <a:avLst/>
          </a:prstGeom>
          <a:noFill/>
        </p:spPr>
        <p:txBody>
          <a:bodyPr wrap="square" rtlCol="0">
            <a:spAutoFit/>
          </a:bodyPr>
          <a:lstStyle/>
          <a:p>
            <a:r>
              <a:rPr lang="en-IN" sz="4800" b="1" u="sng" dirty="0">
                <a:latin typeface="Times New Roman" panose="02020603050405020304" pitchFamily="18" charset="0"/>
                <a:cs typeface="Times New Roman" panose="02020603050405020304" pitchFamily="18" charset="0"/>
              </a:rPr>
              <a:t>Algorithm / Tools Used:</a:t>
            </a:r>
          </a:p>
        </p:txBody>
      </p:sp>
      <p:sp>
        <p:nvSpPr>
          <p:cNvPr id="19" name="TextBox 18">
            <a:extLst>
              <a:ext uri="{FF2B5EF4-FFF2-40B4-BE49-F238E27FC236}">
                <a16:creationId xmlns:a16="http://schemas.microsoft.com/office/drawing/2014/main" id="{A44A3DA4-20D0-E446-ECAD-6598DEE34761}"/>
              </a:ext>
            </a:extLst>
          </p:cNvPr>
          <p:cNvSpPr txBox="1"/>
          <p:nvPr/>
        </p:nvSpPr>
        <p:spPr>
          <a:xfrm>
            <a:off x="760765" y="1640266"/>
            <a:ext cx="12895385" cy="6001643"/>
          </a:xfrm>
          <a:prstGeom prst="rect">
            <a:avLst/>
          </a:prstGeom>
          <a:noFill/>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Algorithms:</a:t>
            </a: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 Step-by-Step Algorithm</a:t>
            </a:r>
          </a:p>
          <a:p>
            <a:pPr marL="342900" indent="-342900" algn="just">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Receive user message from frontend</a:t>
            </a:r>
          </a:p>
          <a:p>
            <a:pPr marL="342900" indent="-342900" algn="just">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Preprocess </a:t>
            </a:r>
            <a:r>
              <a:rPr lang="en-IN" sz="2400" b="1" dirty="0" err="1">
                <a:latin typeface="Times New Roman" panose="02020603050405020304" pitchFamily="18" charset="0"/>
                <a:cs typeface="Times New Roman" panose="02020603050405020304" pitchFamily="18" charset="0"/>
              </a:rPr>
              <a:t>inputConvert</a:t>
            </a:r>
            <a:r>
              <a:rPr lang="en-IN" sz="2400" b="1" dirty="0">
                <a:latin typeface="Times New Roman" panose="02020603050405020304" pitchFamily="18" charset="0"/>
                <a:cs typeface="Times New Roman" panose="02020603050405020304" pitchFamily="18" charset="0"/>
              </a:rPr>
              <a:t> to </a:t>
            </a:r>
            <a:r>
              <a:rPr lang="en-IN" sz="2400" b="1" dirty="0" err="1">
                <a:latin typeface="Times New Roman" panose="02020603050405020304" pitchFamily="18" charset="0"/>
                <a:cs typeface="Times New Roman" panose="02020603050405020304" pitchFamily="18" charset="0"/>
              </a:rPr>
              <a:t>lowercaseRemove</a:t>
            </a:r>
            <a:r>
              <a:rPr lang="en-IN" sz="2400" b="1" dirty="0">
                <a:latin typeface="Times New Roman" panose="02020603050405020304" pitchFamily="18" charset="0"/>
                <a:cs typeface="Times New Roman" panose="02020603050405020304" pitchFamily="18" charset="0"/>
              </a:rPr>
              <a:t> extra spaces</a:t>
            </a:r>
          </a:p>
          <a:p>
            <a:pPr marL="342900" indent="-342900" algn="just">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Greeting </a:t>
            </a:r>
            <a:r>
              <a:rPr lang="en-IN" sz="2400" b="1" dirty="0" err="1">
                <a:latin typeface="Times New Roman" panose="02020603050405020304" pitchFamily="18" charset="0"/>
                <a:cs typeface="Times New Roman" panose="02020603050405020304" pitchFamily="18" charset="0"/>
              </a:rPr>
              <a:t>CheckIf</a:t>
            </a:r>
            <a:r>
              <a:rPr lang="en-IN" sz="2400" b="1" dirty="0">
                <a:latin typeface="Times New Roman" panose="02020603050405020304" pitchFamily="18" charset="0"/>
                <a:cs typeface="Times New Roman" panose="02020603050405020304" pitchFamily="18" charset="0"/>
              </a:rPr>
              <a:t> greeting → Return predefined response</a:t>
            </a:r>
          </a:p>
          <a:p>
            <a:pPr marL="342900" indent="-342900" algn="just">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FAQ </a:t>
            </a:r>
            <a:r>
              <a:rPr lang="en-IN" sz="2400" b="1" dirty="0" err="1">
                <a:latin typeface="Times New Roman" panose="02020603050405020304" pitchFamily="18" charset="0"/>
                <a:cs typeface="Times New Roman" panose="02020603050405020304" pitchFamily="18" charset="0"/>
              </a:rPr>
              <a:t>MatchingSearch</a:t>
            </a:r>
            <a:r>
              <a:rPr lang="en-IN" sz="2400" b="1" dirty="0">
                <a:latin typeface="Times New Roman" panose="02020603050405020304" pitchFamily="18" charset="0"/>
                <a:cs typeface="Times New Roman" panose="02020603050405020304" pitchFamily="18" charset="0"/>
              </a:rPr>
              <a:t> exact match in </a:t>
            </a:r>
            <a:r>
              <a:rPr lang="en-IN" sz="2400" b="1" dirty="0" err="1">
                <a:latin typeface="Times New Roman" panose="02020603050405020304" pitchFamily="18" charset="0"/>
                <a:cs typeface="Times New Roman" panose="02020603050405020304" pitchFamily="18" charset="0"/>
              </a:rPr>
              <a:t>databaseIf</a:t>
            </a:r>
            <a:r>
              <a:rPr lang="en-IN" sz="2400" b="1" dirty="0">
                <a:latin typeface="Times New Roman" panose="02020603050405020304" pitchFamily="18" charset="0"/>
                <a:cs typeface="Times New Roman" panose="02020603050405020304" pitchFamily="18" charset="0"/>
              </a:rPr>
              <a:t> found → Return FAQ answer</a:t>
            </a:r>
          </a:p>
          <a:p>
            <a:pPr marL="342900" indent="-342900" algn="just">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Similar FAQ </a:t>
            </a:r>
            <a:r>
              <a:rPr lang="en-IN" sz="2400" b="1" dirty="0" err="1">
                <a:latin typeface="Times New Roman" panose="02020603050405020304" pitchFamily="18" charset="0"/>
                <a:cs typeface="Times New Roman" panose="02020603050405020304" pitchFamily="18" charset="0"/>
              </a:rPr>
              <a:t>SearchUse</a:t>
            </a:r>
            <a:r>
              <a:rPr lang="en-IN" sz="2400" b="1" dirty="0">
                <a:latin typeface="Times New Roman" panose="02020603050405020304" pitchFamily="18" charset="0"/>
                <a:cs typeface="Times New Roman" panose="02020603050405020304" pitchFamily="18" charset="0"/>
              </a:rPr>
              <a:t> SQL LIKE </a:t>
            </a:r>
            <a:r>
              <a:rPr lang="en-IN" sz="2400" b="1" dirty="0" err="1">
                <a:latin typeface="Times New Roman" panose="02020603050405020304" pitchFamily="18" charset="0"/>
                <a:cs typeface="Times New Roman" panose="02020603050405020304" pitchFamily="18" charset="0"/>
              </a:rPr>
              <a:t>queryIf</a:t>
            </a:r>
            <a:r>
              <a:rPr lang="en-IN" sz="2400" b="1" dirty="0">
                <a:latin typeface="Times New Roman" panose="02020603050405020304" pitchFamily="18" charset="0"/>
                <a:cs typeface="Times New Roman" panose="02020603050405020304" pitchFamily="18" charset="0"/>
              </a:rPr>
              <a:t> match found → Return database answer</a:t>
            </a:r>
          </a:p>
          <a:p>
            <a:pPr marL="342900" indent="-342900" algn="just">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AI Fallback (</a:t>
            </a:r>
            <a:r>
              <a:rPr lang="en-IN" sz="2400" b="1" dirty="0" err="1">
                <a:latin typeface="Times New Roman" panose="02020603050405020304" pitchFamily="18" charset="0"/>
                <a:cs typeface="Times New Roman" panose="02020603050405020304" pitchFamily="18" charset="0"/>
              </a:rPr>
              <a:t>TinyLlama</a:t>
            </a:r>
            <a:r>
              <a:rPr lang="en-IN" sz="2400" b="1" dirty="0">
                <a:latin typeface="Times New Roman" panose="02020603050405020304" pitchFamily="18" charset="0"/>
                <a:cs typeface="Times New Roman" panose="02020603050405020304" pitchFamily="18" charset="0"/>
              </a:rPr>
              <a:t> via Ollama)Retrieve session chat </a:t>
            </a:r>
            <a:r>
              <a:rPr lang="en-IN" sz="2400" b="1" dirty="0" err="1">
                <a:latin typeface="Times New Roman" panose="02020603050405020304" pitchFamily="18" charset="0"/>
                <a:cs typeface="Times New Roman" panose="02020603050405020304" pitchFamily="18" charset="0"/>
              </a:rPr>
              <a:t>historyBuild</a:t>
            </a:r>
            <a:endParaRPr lang="en-IN" sz="24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contextGenerate</a:t>
            </a:r>
            <a:r>
              <a:rPr lang="en-IN" sz="2400" b="1" dirty="0">
                <a:latin typeface="Times New Roman" panose="02020603050405020304" pitchFamily="18" charset="0"/>
                <a:cs typeface="Times New Roman" panose="02020603050405020304" pitchFamily="18" charset="0"/>
              </a:rPr>
              <a:t> AI response</a:t>
            </a:r>
          </a:p>
          <a:p>
            <a:pPr algn="just"/>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Tools &amp; Technologies:</a:t>
            </a: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IN" sz="2400" b="1" dirty="0" err="1">
                <a:latin typeface="Times New Roman" panose="02020603050405020304" pitchFamily="18" charset="0"/>
                <a:cs typeface="Times New Roman" panose="02020603050405020304" pitchFamily="18" charset="0"/>
              </a:rPr>
              <a:t>BackendJavaSpring</a:t>
            </a:r>
            <a:r>
              <a:rPr lang="en-IN" sz="2400" b="1" dirty="0">
                <a:latin typeface="Times New Roman" panose="02020603050405020304" pitchFamily="18" charset="0"/>
                <a:cs typeface="Times New Roman" panose="02020603050405020304" pitchFamily="18" charset="0"/>
              </a:rPr>
              <a:t> Boot</a:t>
            </a:r>
          </a:p>
          <a:p>
            <a:pPr marL="342900" indent="-342900" algn="just">
              <a:buFont typeface="Wingdings" panose="05000000000000000000" pitchFamily="2" charset="2"/>
              <a:buChar char="v"/>
            </a:pPr>
            <a:r>
              <a:rPr lang="en-IN" sz="2400" b="1" dirty="0">
                <a:latin typeface="Times New Roman" panose="02020603050405020304" pitchFamily="18" charset="0"/>
                <a:cs typeface="Times New Roman" panose="02020603050405020304" pitchFamily="18" charset="0"/>
              </a:rPr>
              <a:t>Spring Data </a:t>
            </a:r>
            <a:r>
              <a:rPr lang="en-IN" sz="2400" b="1" dirty="0" err="1">
                <a:latin typeface="Times New Roman" panose="02020603050405020304" pitchFamily="18" charset="0"/>
                <a:cs typeface="Times New Roman" panose="02020603050405020304" pitchFamily="18" charset="0"/>
              </a:rPr>
              <a:t>JPAHibernate</a:t>
            </a:r>
            <a:r>
              <a:rPr lang="en-IN" sz="2400" b="1"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DatabaseMySQL</a:t>
            </a:r>
            <a:r>
              <a:rPr lang="en-IN" sz="2400" b="1" dirty="0">
                <a:latin typeface="Times New Roman" panose="02020603050405020304" pitchFamily="18" charset="0"/>
                <a:cs typeface="Times New Roman" panose="02020603050405020304" pitchFamily="18" charset="0"/>
              </a:rPr>
              <a:t>🔹 AI </a:t>
            </a:r>
            <a:r>
              <a:rPr lang="en-IN" sz="2400" b="1" dirty="0" err="1">
                <a:latin typeface="Times New Roman" panose="02020603050405020304" pitchFamily="18" charset="0"/>
                <a:cs typeface="Times New Roman" panose="02020603050405020304" pitchFamily="18" charset="0"/>
              </a:rPr>
              <a:t>ModelOllama</a:t>
            </a:r>
            <a:r>
              <a:rPr lang="en-IN" sz="2400" b="1" dirty="0">
                <a:latin typeface="Times New Roman" panose="02020603050405020304" pitchFamily="18" charset="0"/>
                <a:cs typeface="Times New Roman" panose="02020603050405020304" pitchFamily="18" charset="0"/>
              </a:rPr>
              <a:t> (Local LLM Runtime)</a:t>
            </a:r>
            <a:r>
              <a:rPr lang="en-IN" sz="2400" b="1" dirty="0" err="1">
                <a:latin typeface="Times New Roman" panose="02020603050405020304" pitchFamily="18" charset="0"/>
                <a:cs typeface="Times New Roman" panose="02020603050405020304" pitchFamily="18" charset="0"/>
              </a:rPr>
              <a:t>TinyLlama</a:t>
            </a:r>
            <a:r>
              <a:rPr lang="en-IN" sz="2400" b="1" dirty="0">
                <a:latin typeface="Times New Roman" panose="02020603050405020304" pitchFamily="18" charset="0"/>
                <a:cs typeface="Times New Roman" panose="02020603050405020304" pitchFamily="18" charset="0"/>
              </a:rPr>
              <a:t> Model🔹 Frontend - </a:t>
            </a:r>
            <a:r>
              <a:rPr lang="en-IN" sz="2400" b="1" dirty="0" err="1">
                <a:latin typeface="Times New Roman" panose="02020603050405020304" pitchFamily="18" charset="0"/>
                <a:cs typeface="Times New Roman" panose="02020603050405020304" pitchFamily="18" charset="0"/>
              </a:rPr>
              <a:t>HTMLCSSJavaScript</a:t>
            </a:r>
            <a:r>
              <a:rPr lang="en-IN" sz="2400" b="1" dirty="0">
                <a:latin typeface="Times New Roman" panose="02020603050405020304" pitchFamily="18" charset="0"/>
                <a:cs typeface="Times New Roman" panose="02020603050405020304" pitchFamily="18" charset="0"/>
              </a:rPr>
              <a:t>🔹 Development </a:t>
            </a:r>
            <a:r>
              <a:rPr lang="en-IN" sz="2400" b="1" dirty="0" err="1">
                <a:latin typeface="Times New Roman" panose="02020603050405020304" pitchFamily="18" charset="0"/>
                <a:cs typeface="Times New Roman" panose="02020603050405020304" pitchFamily="18" charset="0"/>
              </a:rPr>
              <a:t>ToolsMaven</a:t>
            </a:r>
            <a:r>
              <a:rPr lang="en-IN" sz="2400" b="1" dirty="0">
                <a:latin typeface="Times New Roman" panose="02020603050405020304" pitchFamily="18" charset="0"/>
                <a:cs typeface="Times New Roman" panose="02020603050405020304" pitchFamily="18" charset="0"/>
              </a:rPr>
              <a:t> - VS Code /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7100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ACBE68-91CC-F19B-AC5B-78DB04ED38A5}"/>
              </a:ext>
            </a:extLst>
          </p:cNvPr>
          <p:cNvSpPr txBox="1"/>
          <p:nvPr/>
        </p:nvSpPr>
        <p:spPr>
          <a:xfrm>
            <a:off x="529389" y="465040"/>
            <a:ext cx="8807116" cy="830997"/>
          </a:xfrm>
          <a:prstGeom prst="rect">
            <a:avLst/>
          </a:prstGeom>
          <a:noFill/>
        </p:spPr>
        <p:txBody>
          <a:bodyPr wrap="square">
            <a:spAutoFit/>
          </a:bodyPr>
          <a:lstStyle/>
          <a:p>
            <a:r>
              <a:rPr lang="en-US" sz="4800" b="1" u="sng" dirty="0">
                <a:latin typeface="Times New Roman" panose="02020603050405020304" pitchFamily="18" charset="0"/>
                <a:cs typeface="Times New Roman" panose="02020603050405020304" pitchFamily="18" charset="0"/>
              </a:rPr>
              <a:t>I</a:t>
            </a:r>
            <a:r>
              <a:rPr lang="en-IN" sz="4800" b="1" u="sng" dirty="0" err="1">
                <a:latin typeface="Times New Roman" panose="02020603050405020304" pitchFamily="18" charset="0"/>
                <a:cs typeface="Times New Roman" panose="02020603050405020304" pitchFamily="18" charset="0"/>
              </a:rPr>
              <a:t>mplementation</a:t>
            </a:r>
            <a:r>
              <a:rPr lang="en-IN" sz="4800" b="1" u="sng" dirty="0">
                <a:latin typeface="Times New Roman" panose="02020603050405020304" pitchFamily="18" charset="0"/>
                <a:cs typeface="Times New Roman" panose="02020603050405020304" pitchFamily="18" charset="0"/>
              </a:rPr>
              <a:t> Screenshot</a:t>
            </a:r>
          </a:p>
        </p:txBody>
      </p:sp>
      <p:pic>
        <p:nvPicPr>
          <p:cNvPr id="4" name="Picture 3">
            <a:extLst>
              <a:ext uri="{FF2B5EF4-FFF2-40B4-BE49-F238E27FC236}">
                <a16:creationId xmlns:a16="http://schemas.microsoft.com/office/drawing/2014/main" id="{2AD21141-4649-0040-9FA8-F895A63D274C}"/>
              </a:ext>
            </a:extLst>
          </p:cNvPr>
          <p:cNvPicPr>
            <a:picLocks noChangeAspect="1"/>
          </p:cNvPicPr>
          <p:nvPr/>
        </p:nvPicPr>
        <p:blipFill>
          <a:blip r:embed="rId2"/>
          <a:stretch>
            <a:fillRect/>
          </a:stretch>
        </p:blipFill>
        <p:spPr>
          <a:xfrm>
            <a:off x="673767" y="2270467"/>
            <a:ext cx="13655843" cy="4274711"/>
          </a:xfrm>
          <a:prstGeom prst="rect">
            <a:avLst/>
          </a:prstGeom>
        </p:spPr>
      </p:pic>
    </p:spTree>
    <p:extLst>
      <p:ext uri="{BB962C8B-B14F-4D97-AF65-F5344CB8AC3E}">
        <p14:creationId xmlns:p14="http://schemas.microsoft.com/office/powerpoint/2010/main" val="3028938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F861B3-07DE-A346-21BE-4B7905624BCE}"/>
              </a:ext>
            </a:extLst>
          </p:cNvPr>
          <p:cNvSpPr txBox="1"/>
          <p:nvPr/>
        </p:nvSpPr>
        <p:spPr>
          <a:xfrm>
            <a:off x="577516" y="721895"/>
            <a:ext cx="13535526" cy="830997"/>
          </a:xfrm>
          <a:prstGeom prst="rect">
            <a:avLst/>
          </a:prstGeom>
          <a:noFill/>
        </p:spPr>
        <p:txBody>
          <a:bodyPr wrap="square" rtlCol="0">
            <a:spAutoFit/>
          </a:bodyPr>
          <a:lstStyle/>
          <a:p>
            <a:pPr marL="685800" indent="-685800">
              <a:buFont typeface="Wingdings" panose="05000000000000000000" pitchFamily="2" charset="2"/>
              <a:buChar char="v"/>
            </a:pPr>
            <a:r>
              <a:rPr lang="en-US" sz="4800" dirty="0">
                <a:latin typeface="Times New Roman" panose="02020603050405020304" pitchFamily="18" charset="0"/>
                <a:cs typeface="Times New Roman" panose="02020603050405020304" pitchFamily="18" charset="0"/>
              </a:rPr>
              <a:t>Output</a:t>
            </a:r>
          </a:p>
        </p:txBody>
      </p:sp>
      <p:pic>
        <p:nvPicPr>
          <p:cNvPr id="4" name="Picture 3">
            <a:extLst>
              <a:ext uri="{FF2B5EF4-FFF2-40B4-BE49-F238E27FC236}">
                <a16:creationId xmlns:a16="http://schemas.microsoft.com/office/drawing/2014/main" id="{D7929704-9A03-BC2E-A8DF-75F7C51A4CB2}"/>
              </a:ext>
            </a:extLst>
          </p:cNvPr>
          <p:cNvPicPr>
            <a:picLocks noChangeAspect="1"/>
          </p:cNvPicPr>
          <p:nvPr/>
        </p:nvPicPr>
        <p:blipFill>
          <a:blip r:embed="rId2"/>
          <a:stretch>
            <a:fillRect/>
          </a:stretch>
        </p:blipFill>
        <p:spPr>
          <a:xfrm>
            <a:off x="577516" y="1869697"/>
            <a:ext cx="12452684" cy="5995977"/>
          </a:xfrm>
          <a:prstGeom prst="rect">
            <a:avLst/>
          </a:prstGeom>
        </p:spPr>
      </p:pic>
    </p:spTree>
    <p:extLst>
      <p:ext uri="{BB962C8B-B14F-4D97-AF65-F5344CB8AC3E}">
        <p14:creationId xmlns:p14="http://schemas.microsoft.com/office/powerpoint/2010/main" val="3143414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547EC-F7FC-7FAF-51AF-E6794AD944D6}"/>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8AAF435F-86E1-9420-B57C-598BB4F34293}"/>
              </a:ext>
            </a:extLst>
          </p:cNvPr>
          <p:cNvSpPr txBox="1"/>
          <p:nvPr/>
        </p:nvSpPr>
        <p:spPr>
          <a:xfrm>
            <a:off x="1242645" y="405116"/>
            <a:ext cx="5978769" cy="830997"/>
          </a:xfrm>
          <a:prstGeom prst="rect">
            <a:avLst/>
          </a:prstGeom>
          <a:noFill/>
        </p:spPr>
        <p:txBody>
          <a:bodyPr wrap="square" rtlCol="0">
            <a:spAutoFit/>
          </a:bodyPr>
          <a:lstStyle/>
          <a:p>
            <a:r>
              <a:rPr lang="en-IN" sz="4800" b="1" u="sng" dirty="0">
                <a:latin typeface="Times New Roman" panose="02020603050405020304" pitchFamily="18" charset="0"/>
                <a:cs typeface="Times New Roman" panose="02020603050405020304" pitchFamily="18" charset="0"/>
              </a:rPr>
              <a:t>Conclusion:</a:t>
            </a:r>
          </a:p>
        </p:txBody>
      </p:sp>
      <p:sp>
        <p:nvSpPr>
          <p:cNvPr id="19" name="TextBox 18">
            <a:extLst>
              <a:ext uri="{FF2B5EF4-FFF2-40B4-BE49-F238E27FC236}">
                <a16:creationId xmlns:a16="http://schemas.microsoft.com/office/drawing/2014/main" id="{457D3382-B7FE-67A4-463C-77E3ABE5CBA2}"/>
              </a:ext>
            </a:extLst>
          </p:cNvPr>
          <p:cNvSpPr txBox="1"/>
          <p:nvPr/>
        </p:nvSpPr>
        <p:spPr>
          <a:xfrm>
            <a:off x="1266091" y="1800218"/>
            <a:ext cx="12895385" cy="4893647"/>
          </a:xfrm>
          <a:prstGeom prst="rect">
            <a:avLst/>
          </a:prstGeom>
          <a:noFill/>
        </p:spPr>
        <p:txBody>
          <a:bodyPr wrap="square">
            <a:spAutoFit/>
          </a:bodyPr>
          <a:lstStyle/>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Automates routine customer queries efficiently</a:t>
            </a:r>
          </a:p>
          <a:p>
            <a:pPr marL="342900" indent="-342900">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Provides real-time, personalized support</a:t>
            </a:r>
          </a:p>
          <a:p>
            <a:pPr marL="342900" indent="-342900">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Reduces human agent workload</a:t>
            </a:r>
          </a:p>
          <a:p>
            <a:pPr marL="342900" indent="-342900">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Scalable and cost-effective solution</a:t>
            </a:r>
          </a:p>
          <a:p>
            <a:pPr marL="342900" indent="-342900">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Continuously learns to improve accuracy and performance</a:t>
            </a:r>
          </a:p>
          <a:p>
            <a:pPr marL="342900" indent="-342900">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Enhances overall customer satisfaction and business efficiency</a:t>
            </a:r>
          </a:p>
          <a:p>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7605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CDAF7-0A8B-912E-A656-05C279D28740}"/>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85A6B01E-0F93-04BB-9AA1-A770421D88AA}"/>
              </a:ext>
            </a:extLst>
          </p:cNvPr>
          <p:cNvSpPr txBox="1"/>
          <p:nvPr/>
        </p:nvSpPr>
        <p:spPr>
          <a:xfrm>
            <a:off x="1242645" y="405116"/>
            <a:ext cx="5978769" cy="830997"/>
          </a:xfrm>
          <a:prstGeom prst="rect">
            <a:avLst/>
          </a:prstGeom>
          <a:noFill/>
        </p:spPr>
        <p:txBody>
          <a:bodyPr wrap="square" rtlCol="0">
            <a:spAutoFit/>
          </a:bodyPr>
          <a:lstStyle/>
          <a:p>
            <a:r>
              <a:rPr lang="en-IN" sz="4800" b="1" u="sng" dirty="0">
                <a:latin typeface="Times New Roman" panose="02020603050405020304" pitchFamily="18" charset="0"/>
                <a:cs typeface="Times New Roman" panose="02020603050405020304" pitchFamily="18" charset="0"/>
              </a:rPr>
              <a:t>Future Scope:</a:t>
            </a:r>
          </a:p>
        </p:txBody>
      </p:sp>
      <p:sp>
        <p:nvSpPr>
          <p:cNvPr id="19" name="TextBox 18">
            <a:extLst>
              <a:ext uri="{FF2B5EF4-FFF2-40B4-BE49-F238E27FC236}">
                <a16:creationId xmlns:a16="http://schemas.microsoft.com/office/drawing/2014/main" id="{778B8443-FB66-58C4-0031-2520A404B381}"/>
              </a:ext>
            </a:extLst>
          </p:cNvPr>
          <p:cNvSpPr txBox="1"/>
          <p:nvPr/>
        </p:nvSpPr>
        <p:spPr>
          <a:xfrm>
            <a:off x="1266091" y="1800218"/>
            <a:ext cx="12895385" cy="2677656"/>
          </a:xfrm>
          <a:prstGeom prst="rect">
            <a:avLst/>
          </a:prstGeom>
          <a:noFill/>
        </p:spPr>
        <p:txBody>
          <a:bodyPr wrap="square">
            <a:spAutoFit/>
          </a:bodyPr>
          <a:lstStyle/>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Enable </a:t>
            </a:r>
            <a:r>
              <a:rPr lang="en-US" sz="2400" b="1" dirty="0">
                <a:latin typeface="Times New Roman" panose="02020603050405020304" pitchFamily="18" charset="0"/>
                <a:cs typeface="Times New Roman" panose="02020603050405020304" pitchFamily="18" charset="0"/>
              </a:rPr>
              <a:t>voice-based interactions</a:t>
            </a:r>
            <a:r>
              <a:rPr lang="en-US" sz="2400" dirty="0">
                <a:latin typeface="Times New Roman" panose="02020603050405020304" pitchFamily="18" charset="0"/>
                <a:cs typeface="Times New Roman" panose="02020603050405020304" pitchFamily="18" charset="0"/>
              </a:rPr>
              <a:t> for chatbots</a:t>
            </a:r>
          </a:p>
          <a:p>
            <a:pPr marL="342900" indent="-342900">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Incorporate </a:t>
            </a:r>
            <a:r>
              <a:rPr lang="en-US" sz="2400" b="1" dirty="0">
                <a:latin typeface="Times New Roman" panose="02020603050405020304" pitchFamily="18" charset="0"/>
                <a:cs typeface="Times New Roman" panose="02020603050405020304" pitchFamily="18" charset="0"/>
              </a:rPr>
              <a:t>emotion and sentiment analysis</a:t>
            </a:r>
            <a:r>
              <a:rPr lang="en-US" sz="2400" dirty="0">
                <a:latin typeface="Times New Roman" panose="02020603050405020304" pitchFamily="18" charset="0"/>
                <a:cs typeface="Times New Roman" panose="02020603050405020304" pitchFamily="18" charset="0"/>
              </a:rPr>
              <a:t> for smarter responses</a:t>
            </a:r>
          </a:p>
          <a:p>
            <a:pPr marL="342900" indent="-342900">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Use </a:t>
            </a:r>
            <a:r>
              <a:rPr lang="en-US" sz="2400" b="1" dirty="0">
                <a:latin typeface="Times New Roman" panose="02020603050405020304" pitchFamily="18" charset="0"/>
                <a:cs typeface="Times New Roman" panose="02020603050405020304" pitchFamily="18" charset="0"/>
              </a:rPr>
              <a:t>predictive analytics</a:t>
            </a:r>
            <a:r>
              <a:rPr lang="en-US" sz="2400" dirty="0">
                <a:latin typeface="Times New Roman" panose="02020603050405020304" pitchFamily="18" charset="0"/>
                <a:cs typeface="Times New Roman" panose="02020603050405020304" pitchFamily="18" charset="0"/>
              </a:rPr>
              <a:t> for proactive customer engagement</a:t>
            </a:r>
          </a:p>
          <a:p>
            <a:pPr marL="342900" indent="-342900">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Expand to </a:t>
            </a:r>
            <a:r>
              <a:rPr lang="en-US" sz="2400" b="1" dirty="0">
                <a:latin typeface="Times New Roman" panose="02020603050405020304" pitchFamily="18" charset="0"/>
                <a:cs typeface="Times New Roman" panose="02020603050405020304" pitchFamily="18" charset="0"/>
              </a:rPr>
              <a:t>multi-lingual and cross-platform support</a:t>
            </a:r>
            <a:r>
              <a:rPr lang="en-US" sz="2400" dirty="0">
                <a:latin typeface="Times New Roman" panose="02020603050405020304" pitchFamily="18" charset="0"/>
                <a:cs typeface="Times New Roman" panose="02020603050405020304" pitchFamily="18" charset="0"/>
              </a:rPr>
              <a:t> for global users</a:t>
            </a:r>
          </a:p>
        </p:txBody>
      </p:sp>
    </p:spTree>
    <p:extLst>
      <p:ext uri="{BB962C8B-B14F-4D97-AF65-F5344CB8AC3E}">
        <p14:creationId xmlns:p14="http://schemas.microsoft.com/office/powerpoint/2010/main" val="3923045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D6613-5A78-D3DB-9274-234284510979}"/>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73A19F1F-5150-0FC1-4D5E-C728FCE66920}"/>
              </a:ext>
            </a:extLst>
          </p:cNvPr>
          <p:cNvSpPr txBox="1"/>
          <p:nvPr/>
        </p:nvSpPr>
        <p:spPr>
          <a:xfrm>
            <a:off x="1242645" y="405116"/>
            <a:ext cx="5978769" cy="830997"/>
          </a:xfrm>
          <a:prstGeom prst="rect">
            <a:avLst/>
          </a:prstGeom>
          <a:noFill/>
        </p:spPr>
        <p:txBody>
          <a:bodyPr wrap="square" rtlCol="0">
            <a:spAutoFit/>
          </a:bodyPr>
          <a:lstStyle/>
          <a:p>
            <a:r>
              <a:rPr lang="en-IN" sz="4800" b="1" u="sng" dirty="0">
                <a:latin typeface="Times New Roman" panose="02020603050405020304" pitchFamily="18" charset="0"/>
                <a:cs typeface="Times New Roman" panose="02020603050405020304" pitchFamily="18" charset="0"/>
              </a:rPr>
              <a:t>References:</a:t>
            </a:r>
          </a:p>
        </p:txBody>
      </p:sp>
      <p:sp>
        <p:nvSpPr>
          <p:cNvPr id="19" name="TextBox 18">
            <a:extLst>
              <a:ext uri="{FF2B5EF4-FFF2-40B4-BE49-F238E27FC236}">
                <a16:creationId xmlns:a16="http://schemas.microsoft.com/office/drawing/2014/main" id="{FA7E2169-249F-0597-7F69-C8E69AFBA62D}"/>
              </a:ext>
            </a:extLst>
          </p:cNvPr>
          <p:cNvSpPr txBox="1"/>
          <p:nvPr/>
        </p:nvSpPr>
        <p:spPr>
          <a:xfrm>
            <a:off x="656493" y="1800218"/>
            <a:ext cx="13504984" cy="5262979"/>
          </a:xfrm>
          <a:prstGeom prst="rect">
            <a:avLst/>
          </a:prstGeom>
          <a:noFill/>
        </p:spPr>
        <p:txBody>
          <a:bodyPr wrap="square">
            <a:spAutoFit/>
          </a:bodyPr>
          <a:lstStyle/>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Pamungkas, F. (2019). </a:t>
            </a:r>
            <a:r>
              <a:rPr lang="en-IN" sz="2400" i="1" dirty="0">
                <a:latin typeface="Times New Roman" panose="02020603050405020304" pitchFamily="18" charset="0"/>
                <a:cs typeface="Times New Roman" panose="02020603050405020304" pitchFamily="18" charset="0"/>
              </a:rPr>
              <a:t>Emotionally-Aware Chatbots for Customer Interaction</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arXiv</a:t>
            </a:r>
            <a:r>
              <a:rPr lang="en-IN" sz="2400" dirty="0">
                <a:latin typeface="Times New Roman" panose="02020603050405020304" pitchFamily="18" charset="0"/>
                <a:cs typeface="Times New Roman" panose="02020603050405020304" pitchFamily="18" charset="0"/>
              </a:rPr>
              <a:t>: https://arxiv.org/pdf/1906.09774.pdf</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Richardson, E., &amp; Heck, L. (2023). </a:t>
            </a:r>
            <a:r>
              <a:rPr lang="en-IN" sz="2400" i="1" dirty="0">
                <a:latin typeface="Times New Roman" panose="02020603050405020304" pitchFamily="18" charset="0"/>
                <a:cs typeface="Times New Roman" panose="02020603050405020304" pitchFamily="18" charset="0"/>
              </a:rPr>
              <a:t>Commonsense Reasoning in AI Chatbots</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arXiv</a:t>
            </a:r>
            <a:r>
              <a:rPr lang="en-IN" sz="2400" dirty="0">
                <a:latin typeface="Times New Roman" panose="02020603050405020304" pitchFamily="18" charset="0"/>
                <a:cs typeface="Times New Roman" panose="02020603050405020304" pitchFamily="18" charset="0"/>
              </a:rPr>
              <a:t>: https://arxiv.org/pdf/2302.07926.pdf</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Adelusi, O. (2022). </a:t>
            </a:r>
            <a:r>
              <a:rPr lang="en-IN" sz="2400" i="1" dirty="0">
                <a:latin typeface="Times New Roman" panose="02020603050405020304" pitchFamily="18" charset="0"/>
                <a:cs typeface="Times New Roman" panose="02020603050405020304" pitchFamily="18" charset="0"/>
              </a:rPr>
              <a:t>Hybrid Rule-Based and Machine Learning Chatbots</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ResearchGate:</a:t>
            </a:r>
            <a:r>
              <a:rPr lang="en-IN" sz="2400" dirty="0" err="1">
                <a:latin typeface="Times New Roman" panose="02020603050405020304" pitchFamily="18" charset="0"/>
                <a:cs typeface="Times New Roman" panose="02020603050405020304" pitchFamily="18" charset="0"/>
                <a:hlinkClick r:id="rId3"/>
              </a:rPr>
              <a:t>https</a:t>
            </a:r>
            <a:r>
              <a:rPr lang="en-IN" sz="2400" dirty="0">
                <a:latin typeface="Times New Roman" panose="02020603050405020304" pitchFamily="18" charset="0"/>
                <a:cs typeface="Times New Roman" panose="02020603050405020304" pitchFamily="18" charset="0"/>
                <a:hlinkClick r:id="rId3"/>
              </a:rPr>
              <a:t>://www.researchgate.net/publication/387669510_Hybrid_RuleBased_and_Machine_Learning_Chatbots</a:t>
            </a:r>
            <a:endParaRPr lang="en-IN"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Izadi, H. (2024). </a:t>
            </a:r>
            <a:r>
              <a:rPr lang="en-IN" sz="2400" i="1" dirty="0">
                <a:latin typeface="Times New Roman" panose="02020603050405020304" pitchFamily="18" charset="0"/>
                <a:cs typeface="Times New Roman" panose="02020603050405020304" pitchFamily="18" charset="0"/>
              </a:rPr>
              <a:t>Error Correction in Conversational AI</a:t>
            </a:r>
            <a:r>
              <a:rPr lang="en-IN" sz="2400" dirty="0">
                <a:latin typeface="Times New Roman" panose="02020603050405020304" pitchFamily="18" charset="0"/>
                <a:cs typeface="Times New Roman" panose="02020603050405020304" pitchFamily="18" charset="0"/>
              </a:rPr>
              <a:t>. MDPI AI Journal: https://www.mdpi.com/2673-2688/5/2/41/pdf</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Singh, R. (2025). </a:t>
            </a:r>
            <a:r>
              <a:rPr lang="en-IN" sz="2400" i="1" dirty="0">
                <a:latin typeface="Times New Roman" panose="02020603050405020304" pitchFamily="18" charset="0"/>
                <a:cs typeface="Times New Roman" panose="02020603050405020304" pitchFamily="18" charset="0"/>
              </a:rPr>
              <a:t>Large Language Models in Chatbots</a:t>
            </a:r>
            <a:r>
              <a:rPr lang="en-IN" sz="2400" dirty="0">
                <a:latin typeface="Times New Roman" panose="02020603050405020304" pitchFamily="18" charset="0"/>
                <a:cs typeface="Times New Roman" panose="02020603050405020304" pitchFamily="18" charset="0"/>
              </a:rPr>
              <a:t>. ScienceDirect: </a:t>
            </a:r>
            <a:r>
              <a:rPr lang="en-IN" sz="2400" dirty="0">
                <a:latin typeface="Times New Roman" panose="02020603050405020304" pitchFamily="18" charset="0"/>
                <a:cs typeface="Times New Roman" panose="02020603050405020304" pitchFamily="18" charset="0"/>
                <a:hlinkClick r:id="rId4"/>
              </a:rPr>
              <a:t>https://www.sciencedirect.com/science/article/pii/S2949719125000044/pdfft</a:t>
            </a:r>
            <a:endParaRPr lang="en-IN"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IN" sz="2400" dirty="0" err="1">
                <a:latin typeface="Times New Roman" panose="02020603050405020304" pitchFamily="18" charset="0"/>
                <a:cs typeface="Times New Roman" panose="02020603050405020304" pitchFamily="18" charset="0"/>
              </a:rPr>
              <a:t>Jurafsky</a:t>
            </a:r>
            <a:r>
              <a:rPr lang="en-IN" sz="2400" dirty="0">
                <a:latin typeface="Times New Roman" panose="02020603050405020304" pitchFamily="18" charset="0"/>
                <a:cs typeface="Times New Roman" panose="02020603050405020304" pitchFamily="18" charset="0"/>
              </a:rPr>
              <a:t>, D., &amp; Martin, J. H. (2023). </a:t>
            </a:r>
            <a:r>
              <a:rPr lang="en-IN" sz="2400" i="1" dirty="0">
                <a:latin typeface="Times New Roman" panose="02020603050405020304" pitchFamily="18" charset="0"/>
                <a:cs typeface="Times New Roman" panose="02020603050405020304" pitchFamily="18" charset="0"/>
              </a:rPr>
              <a:t>Speech and Language Processing</a:t>
            </a:r>
            <a:r>
              <a:rPr lang="en-IN" sz="2400" dirty="0">
                <a:latin typeface="Times New Roman" panose="02020603050405020304" pitchFamily="18" charset="0"/>
                <a:cs typeface="Times New Roman" panose="02020603050405020304" pitchFamily="18" charset="0"/>
              </a:rPr>
              <a:t> (3rd ed.). Pearson.</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Khatri, C., &amp; Sharma, P. (2022). </a:t>
            </a:r>
            <a:r>
              <a:rPr lang="en-IN" sz="2400" i="1" dirty="0">
                <a:latin typeface="Times New Roman" panose="02020603050405020304" pitchFamily="18" charset="0"/>
                <a:cs typeface="Times New Roman" panose="02020603050405020304" pitchFamily="18" charset="0"/>
              </a:rPr>
              <a:t>AI Chatbots in Customer Service: Trends and Challenges</a:t>
            </a:r>
            <a:r>
              <a:rPr lang="en-IN" sz="2400" dirty="0">
                <a:latin typeface="Times New Roman" panose="02020603050405020304" pitchFamily="18" charset="0"/>
                <a:cs typeface="Times New Roman" panose="02020603050405020304" pitchFamily="18" charset="0"/>
              </a:rPr>
              <a:t>. International Journal of AI Research.</a:t>
            </a:r>
          </a:p>
        </p:txBody>
      </p:sp>
    </p:spTree>
    <p:extLst>
      <p:ext uri="{BB962C8B-B14F-4D97-AF65-F5344CB8AC3E}">
        <p14:creationId xmlns:p14="http://schemas.microsoft.com/office/powerpoint/2010/main" val="3110098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779C86-0A9D-9AC7-D159-EEF90286E2AD}"/>
              </a:ext>
            </a:extLst>
          </p:cNvPr>
          <p:cNvSpPr txBox="1"/>
          <p:nvPr/>
        </p:nvSpPr>
        <p:spPr>
          <a:xfrm>
            <a:off x="986590" y="813955"/>
            <a:ext cx="7952874" cy="830997"/>
          </a:xfrm>
          <a:prstGeom prst="rect">
            <a:avLst/>
          </a:prstGeom>
          <a:noFill/>
        </p:spPr>
        <p:txBody>
          <a:bodyPr wrap="square">
            <a:spAutoFit/>
          </a:bodyPr>
          <a:lstStyle/>
          <a:p>
            <a:r>
              <a:rPr lang="en-US" sz="4800" b="1" u="sng" dirty="0">
                <a:latin typeface="Times New Roman" panose="02020603050405020304" pitchFamily="18" charset="0"/>
                <a:cs typeface="Times New Roman" panose="02020603050405020304" pitchFamily="18" charset="0"/>
              </a:rPr>
              <a:t>Paper Preparation/Status:</a:t>
            </a:r>
            <a:endParaRPr lang="en-IN" sz="4800" b="1" u="sng"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F8001E4-0E58-1769-2652-BA6E3D789364}"/>
              </a:ext>
            </a:extLst>
          </p:cNvPr>
          <p:cNvSpPr txBox="1"/>
          <p:nvPr/>
        </p:nvSpPr>
        <p:spPr>
          <a:xfrm>
            <a:off x="1191125" y="2347352"/>
            <a:ext cx="12320338" cy="3046988"/>
          </a:xfrm>
          <a:prstGeom prst="rect">
            <a:avLst/>
          </a:prstGeom>
          <a:noFill/>
        </p:spPr>
        <p:txBody>
          <a:bodyPr wrap="square">
            <a:spAutoFit/>
          </a:bodyPr>
          <a:lstStyle/>
          <a:p>
            <a:pPr marL="342900" indent="-342900" algn="just">
              <a:buFont typeface="Wingdings" panose="05000000000000000000" pitchFamily="2" charset="2"/>
              <a:buChar char="v"/>
            </a:pPr>
            <a:r>
              <a:rPr lang="en-US" sz="2400" dirty="0"/>
              <a:t>Our team successfully completed a research paper titled </a:t>
            </a:r>
            <a:r>
              <a:rPr lang="en-US" sz="2400" i="1" dirty="0"/>
              <a:t>'AI-Driven Chatbot for Intelligent Customer Service Automation'</a:t>
            </a:r>
            <a:r>
              <a:rPr lang="en-US" sz="2400" dirty="0"/>
              <a:t>, adhering to IEEE formatting guidelines. </a:t>
            </a:r>
          </a:p>
          <a:p>
            <a:pPr algn="just"/>
            <a:endParaRPr lang="en-US" sz="2400" dirty="0"/>
          </a:p>
          <a:p>
            <a:pPr marL="342900" indent="-342900" algn="just">
              <a:buFont typeface="Wingdings" panose="05000000000000000000" pitchFamily="2" charset="2"/>
              <a:buChar char="v"/>
            </a:pPr>
            <a:r>
              <a:rPr lang="en-US" sz="2400" dirty="0"/>
              <a:t>The paper was thoroughly checked for plagiarism and submitted to multiple academic conferences for review and presentation.</a:t>
            </a:r>
          </a:p>
          <a:p>
            <a:pPr marL="342900" indent="-342900" algn="just">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Our paper got accepted in ICDSMLA 2025 and we had also presented our paper in this conference and in 2-3 months it will get published</a:t>
            </a:r>
          </a:p>
        </p:txBody>
      </p:sp>
    </p:spTree>
    <p:extLst>
      <p:ext uri="{BB962C8B-B14F-4D97-AF65-F5344CB8AC3E}">
        <p14:creationId xmlns:p14="http://schemas.microsoft.com/office/powerpoint/2010/main" val="2620231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5489AC-6EAE-40EB-2CAA-2C4BBBAF1183}"/>
              </a:ext>
            </a:extLst>
          </p:cNvPr>
          <p:cNvPicPr>
            <a:picLocks noChangeAspect="1"/>
          </p:cNvPicPr>
          <p:nvPr/>
        </p:nvPicPr>
        <p:blipFill>
          <a:blip r:embed="rId2"/>
          <a:stretch>
            <a:fillRect/>
          </a:stretch>
        </p:blipFill>
        <p:spPr>
          <a:xfrm>
            <a:off x="2469230" y="1913381"/>
            <a:ext cx="9523497" cy="6052002"/>
          </a:xfrm>
          <a:prstGeom prst="rect">
            <a:avLst/>
          </a:prstGeom>
        </p:spPr>
      </p:pic>
      <p:sp>
        <p:nvSpPr>
          <p:cNvPr id="5" name="TextBox 4">
            <a:extLst>
              <a:ext uri="{FF2B5EF4-FFF2-40B4-BE49-F238E27FC236}">
                <a16:creationId xmlns:a16="http://schemas.microsoft.com/office/drawing/2014/main" id="{A66804B7-5070-375E-634F-BA31A946F776}"/>
              </a:ext>
            </a:extLst>
          </p:cNvPr>
          <p:cNvSpPr txBox="1"/>
          <p:nvPr/>
        </p:nvSpPr>
        <p:spPr>
          <a:xfrm>
            <a:off x="1167063" y="627055"/>
            <a:ext cx="7315200" cy="83099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1" i="0" u="sng"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Participation Certificate:</a:t>
            </a:r>
            <a:endParaRPr kumimoji="0" lang="en-IN" sz="4800" b="1" i="0" u="sng"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00313716"/>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TM04033923[[fn=Depth]]</Template>
  <TotalTime>234</TotalTime>
  <Words>1195</Words>
  <Application>Microsoft Office PowerPoint</Application>
  <PresentationFormat>Custom</PresentationFormat>
  <Paragraphs>169</Paragraphs>
  <Slides>17</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Times New Roman</vt:lpstr>
      <vt:lpstr>Wingdings</vt:lpstr>
      <vt:lpstr>Corbel</vt:lpstr>
      <vt:lpstr>Depth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GANESH KUMAR SARDAR</dc:creator>
  <cp:lastModifiedBy>Md Tufail Raza</cp:lastModifiedBy>
  <cp:revision>14</cp:revision>
  <dcterms:created xsi:type="dcterms:W3CDTF">2025-09-09T15:21:41Z</dcterms:created>
  <dcterms:modified xsi:type="dcterms:W3CDTF">2026-04-07T15:41:29Z</dcterms:modified>
</cp:coreProperties>
</file>